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  <p:sldMasterId id="2147483715" r:id="rId2"/>
  </p:sldMasterIdLst>
  <p:notesMasterIdLst>
    <p:notesMasterId r:id="rId5"/>
  </p:notesMasterIdLst>
  <p:sldIdLst>
    <p:sldId id="307" r:id="rId3"/>
    <p:sldId id="308" r:id="rId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Light" panose="000004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  <p:embeddedFont>
      <p:font typeface="Verdana" panose="020B060403050404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67" d="100"/>
          <a:sy n="67" d="100"/>
        </p:scale>
        <p:origin x="89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font" Target="fonts/font13.fntdata"/><Relationship Id="rId19" Type="http://schemas.openxmlformats.org/officeDocument/2006/relationships/font" Target="fonts/font14.fntdata"/><Relationship Id="rId20" Type="http://schemas.openxmlformats.org/officeDocument/2006/relationships/font" Target="fonts/font15.fntdata"/><Relationship Id="rId21" Type="http://schemas.openxmlformats.org/officeDocument/2006/relationships/font" Target="fonts/font16.fntdata"/><Relationship Id="rId22" Type="http://schemas.openxmlformats.org/officeDocument/2006/relationships/font" Target="fonts/font17.fntdata"/><Relationship Id="rId23" Type="http://schemas.openxmlformats.org/officeDocument/2006/relationships/font" Target="fonts/font18.fntdata"/><Relationship Id="rId24" Type="http://schemas.openxmlformats.org/officeDocument/2006/relationships/font" Target="fonts/font19.fntdata"/><Relationship Id="rId25" Type="http://schemas.openxmlformats.org/officeDocument/2006/relationships/font" Target="fonts/font20.fntdata"/><Relationship Id="rId26" Type="http://schemas.openxmlformats.org/officeDocument/2006/relationships/font" Target="fonts/font21.fntdata"/><Relationship Id="rId27" Type="http://schemas.openxmlformats.org/officeDocument/2006/relationships/font" Target="fonts/font22.fntdata"/><Relationship Id="rId28" Type="http://schemas.openxmlformats.org/officeDocument/2006/relationships/font" Target="fonts/font23.fntdata"/><Relationship Id="rId29" Type="http://schemas.openxmlformats.org/officeDocument/2006/relationships/font" Target="fonts/font24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924A6FFB-6134-EF9E-6A7E-C5032538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17f0088e_2_695:notes">
            <a:extLst>
              <a:ext uri="{FF2B5EF4-FFF2-40B4-BE49-F238E27FC236}">
                <a16:creationId xmlns:a16="http://schemas.microsoft.com/office/drawing/2014/main" id="{DAD1A018-DF5F-ECE4-5E64-5D72F1832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17f0088e_2_695:notes">
            <a:extLst>
              <a:ext uri="{FF2B5EF4-FFF2-40B4-BE49-F238E27FC236}">
                <a16:creationId xmlns:a16="http://schemas.microsoft.com/office/drawing/2014/main" id="{1C3BA472-989D-3C5B-BC1A-C377FF693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336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">
  <p:cSld name="Blank template - keep it empt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556775" y="4861575"/>
            <a:ext cx="587100" cy="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) Content - One title and extra long text">
  <p:cSld name="44) Content - One title and extra long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587225" y="1165925"/>
            <a:ext cx="3324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"/>
              <a:buNone/>
              <a:defRPr sz="1000" b="1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587225" y="1506375"/>
            <a:ext cx="7885200" cy="2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587225" y="572700"/>
            <a:ext cx="5497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17" name="Google Shape;117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) Empty">
  <p:cSld name="1) Empt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 White template">
  <p:cSld name="16_Blank White templat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6695471" y="4718888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91130" y="330362"/>
            <a:ext cx="8361675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391129" y="939998"/>
            <a:ext cx="8361675" cy="1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>
                <a:solidFill>
                  <a:srgbClr val="3B3B3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900" b="0" i="0">
                <a:solidFill>
                  <a:srgbClr val="5554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/>
        </p:nvSpPr>
        <p:spPr>
          <a:xfrm>
            <a:off x="4984500" y="4923200"/>
            <a:ext cx="4038600" cy="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) Divider - Title left double pink dots">
  <p:cSld name="10) Divider - Title left double pink do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body" idx="1"/>
          </p:nvPr>
        </p:nvSpPr>
        <p:spPr>
          <a:xfrm>
            <a:off x="5795700" y="1362925"/>
            <a:ext cx="27612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1080003" y="1800450"/>
            <a:ext cx="33876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2200"/>
              <a:buFont typeface="Montserrat Light"/>
              <a:buNone/>
              <a:defRPr sz="42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55500"/>
            <a:ext cx="591600" cy="14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) Thank you">
  <p:cSld name="64) Thank you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25"/>
            <a:ext cx="8817430" cy="49598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pic>
        <p:nvPicPr>
          <p:cNvPr id="144" name="Google Shape;144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225" y="553501"/>
            <a:ext cx="1115848" cy="3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/>
        </p:nvSpPr>
        <p:spPr>
          <a:xfrm>
            <a:off x="1080000" y="2073000"/>
            <a:ext cx="6983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GB" sz="71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</a:t>
            </a:r>
            <a:r>
              <a:rPr lang="en-GB" sz="7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you.</a:t>
            </a:r>
            <a:endParaRPr sz="71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">
  <p:cSld name="45) Content - Display other material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6" y="-905925"/>
            <a:ext cx="999449" cy="27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32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0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5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mpaign summary">
  <p:cSld name="Campaign summar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76" name="Google Shape;176;p36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3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subTitle" idx="4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Subtitle">
  <p:cSld name="Title Only with Subtit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>
            <a:spLocks noGrp="1"/>
          </p:cNvSpPr>
          <p:nvPr>
            <p:ph type="title"/>
          </p:nvPr>
        </p:nvSpPr>
        <p:spPr>
          <a:xfrm>
            <a:off x="337029" y="233533"/>
            <a:ext cx="83937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1"/>
          </p:nvPr>
        </p:nvSpPr>
        <p:spPr>
          <a:xfrm>
            <a:off x="336130" y="631589"/>
            <a:ext cx="839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500"/>
            </a:lvl1pPr>
            <a:lvl2pPr marL="914400" lvl="1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 1">
  <p:cSld name="45) Content - Display other material 1 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7" y="-905925"/>
            <a:ext cx="999451" cy="277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8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header, text">
  <p:cSld name="Header, subheader,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 1">
  <p:cSld name="Blank template - keep it empty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94" y="4853118"/>
            <a:ext cx="229569" cy="229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122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  <a:defRPr sz="11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720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14D968AC-0D9E-6E5B-5690-27A8007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1">
            <a:extLst>
              <a:ext uri="{FF2B5EF4-FFF2-40B4-BE49-F238E27FC236}">
                <a16:creationId xmlns:a16="http://schemas.microsoft.com/office/drawing/2014/main" id="{A24817D9-8F3A-4404-9889-2287793E4BF1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91">
            <a:extLst>
              <a:ext uri="{FF2B5EF4-FFF2-40B4-BE49-F238E27FC236}">
                <a16:creationId xmlns:a16="http://schemas.microsoft.com/office/drawing/2014/main" id="{0DC2ECCA-800A-BD4F-4BA2-58740FDCD1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Clr>
                <a:schemeClr val="dk2"/>
              </a:buClr>
              <a:buSzPts val="1200"/>
              <a:buNone/>
            </a:pPr>
            <a:r>
              <a:rPr lang="en-GB" sz="1200" b="1" dirty="0">
                <a:solidFill>
                  <a:schemeClr val="lt2"/>
                </a:solidFill>
              </a:rPr>
              <a:t>Yasmine Goubantini</a:t>
            </a:r>
            <a:endParaRPr sz="1200" b="1" dirty="0">
              <a:solidFill>
                <a:schemeClr val="lt2"/>
              </a:solidFill>
            </a:endParaRPr>
          </a:p>
        </p:txBody>
      </p:sp>
      <p:sp>
        <p:nvSpPr>
          <p:cNvPr id="870" name="Google Shape;870;p91">
            <a:extLst>
              <a:ext uri="{FF2B5EF4-FFF2-40B4-BE49-F238E27FC236}">
                <a16:creationId xmlns:a16="http://schemas.microsoft.com/office/drawing/2014/main" id="{2276CE7D-5B4D-6045-E0EB-C3AC08E9201F}"/>
              </a:ext>
            </a:extLst>
          </p:cNvPr>
          <p:cNvSpPr txBox="1"/>
          <p:nvPr/>
        </p:nvSpPr>
        <p:spPr>
          <a:xfrm>
            <a:off x="3615992" y="66731"/>
            <a:ext cx="5357100" cy="99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dirty="0">
                <a:latin typeface="Montserrat"/>
              </a:rPr>
              <a:t>SUMMARY:
As an IT consultant specializing in digital transformation, I help organizations optimize their processes and deploy efficient IT solutions, ensuring strategic alignment between business and technology objectives.</a:t>
            </a:r>
            <a:endParaRPr sz="8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91">
            <a:extLst>
              <a:ext uri="{FF2B5EF4-FFF2-40B4-BE49-F238E27FC236}">
                <a16:creationId xmlns:a16="http://schemas.microsoft.com/office/drawing/2014/main" id="{5D2FDB83-471C-D5F8-971A-72D4B1D6A61C}"/>
              </a:ext>
            </a:extLst>
          </p:cNvPr>
          <p:cNvCxnSpPr/>
          <p:nvPr/>
        </p:nvCxnSpPr>
        <p:spPr>
          <a:xfrm>
            <a:off x="3616697" y="154850"/>
            <a:ext cx="0" cy="68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2" name="Google Shape;872;p91">
            <a:extLst>
              <a:ext uri="{FF2B5EF4-FFF2-40B4-BE49-F238E27FC236}">
                <a16:creationId xmlns:a16="http://schemas.microsoft.com/office/drawing/2014/main" id="{B5A7B248-FF6E-6D0B-A4E7-8D5861EBD330}"/>
              </a:ext>
            </a:extLst>
          </p:cNvPr>
          <p:cNvSpPr/>
          <p:nvPr/>
        </p:nvSpPr>
        <p:spPr>
          <a:xfrm>
            <a:off x="1613875" y="860450"/>
            <a:ext cx="1648500" cy="290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91">
            <a:extLst>
              <a:ext uri="{FF2B5EF4-FFF2-40B4-BE49-F238E27FC236}">
                <a16:creationId xmlns:a16="http://schemas.microsoft.com/office/drawing/2014/main" id="{92BA0080-689C-BD8B-439C-BAC02A57C612}"/>
              </a:ext>
            </a:extLst>
          </p:cNvPr>
          <p:cNvSpPr txBox="1"/>
          <p:nvPr/>
        </p:nvSpPr>
        <p:spPr>
          <a:xfrm>
            <a:off x="131077" y="2140702"/>
            <a:ext cx="7909539" cy="15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Formation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7" name="Google Shape;877;p91">
            <a:extLst>
              <a:ext uri="{FF2B5EF4-FFF2-40B4-BE49-F238E27FC236}">
                <a16:creationId xmlns:a16="http://schemas.microsoft.com/office/drawing/2014/main" id="{8F57F1C4-1203-3ECB-B40D-FB8546B24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rPr lang="en-GB" sz="900" b="1" dirty="0">
                <a:solidFill>
                  <a:schemeClr val="dk1"/>
                </a:solidFill>
              </a:rPr>
              <a:t>Business Analyst</a:t>
            </a:r>
            <a:endParaRPr sz="900" b="1" dirty="0">
              <a:solidFill>
                <a:schemeClr val="dk1"/>
              </a:solidFill>
            </a:endParaRPr>
          </a:p>
        </p:txBody>
      </p:sp>
      <p:cxnSp>
        <p:nvCxnSpPr>
          <p:cNvPr id="878" name="Google Shape;878;p91">
            <a:extLst>
              <a:ext uri="{FF2B5EF4-FFF2-40B4-BE49-F238E27FC236}">
                <a16:creationId xmlns:a16="http://schemas.microsoft.com/office/drawing/2014/main" id="{BF457A0F-436C-C492-EB9D-B3920614B8DF}"/>
              </a:ext>
            </a:extLst>
          </p:cNvPr>
          <p:cNvCxnSpPr/>
          <p:nvPr/>
        </p:nvCxnSpPr>
        <p:spPr>
          <a:xfrm>
            <a:off x="-5911630" y="4639531"/>
            <a:ext cx="0" cy="350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9" name="Google Shape;879;p91">
            <a:extLst>
              <a:ext uri="{FF2B5EF4-FFF2-40B4-BE49-F238E27FC236}">
                <a16:creationId xmlns:a16="http://schemas.microsoft.com/office/drawing/2014/main" id="{09BFD0FF-EF97-423E-7ED3-074E5139A1E0}"/>
              </a:ext>
            </a:extLst>
          </p:cNvPr>
          <p:cNvSpPr txBox="1"/>
          <p:nvPr/>
        </p:nvSpPr>
        <p:spPr>
          <a:xfrm>
            <a:off x="131076" y="2327844"/>
            <a:ext cx="3978000" cy="1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just" defTabSz="914378"/>
            <a:r>
              <a:rPr sz="750"/>
              <a:t>Master’s - Data Science for Business - Institut Supérieur de Gestion de Tunis (2023)</a:t>
            </a:r>
          </a:p>
          <a:p>
            <a:r>
              <a:rPr sz="750"/>
              <a:t>Bachelor’s Degree - Management Information Systems - Institut Supérieur de Gestion de Tunis (2022)</a:t>
            </a:r>
          </a:p>
        </p:txBody>
      </p:sp>
      <p:sp>
        <p:nvSpPr>
          <p:cNvPr id="881" name="Google Shape;881;p91">
            <a:extLst>
              <a:ext uri="{FF2B5EF4-FFF2-40B4-BE49-F238E27FC236}">
                <a16:creationId xmlns:a16="http://schemas.microsoft.com/office/drawing/2014/main" id="{7246D18B-D38D-D65C-14FD-C441A59F911E}"/>
              </a:ext>
            </a:extLst>
          </p:cNvPr>
          <p:cNvSpPr txBox="1"/>
          <p:nvPr/>
        </p:nvSpPr>
        <p:spPr>
          <a:xfrm>
            <a:off x="77051" y="1435442"/>
            <a:ext cx="4153168" cy="157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sz="800"/>
              <a:t>Data Analysis  •  Python  •  Pandas  •  NumPy  •  Data Visualization  •  Power BI  •  Matplotlib  •  Seaborn  •  SQL  •  Data Modeling  •  Data Quality</a:t>
            </a:r>
          </a:p>
        </p:txBody>
      </p:sp>
      <p:sp>
        <p:nvSpPr>
          <p:cNvPr id="882" name="Google Shape;882;p91">
            <a:extLst>
              <a:ext uri="{FF2B5EF4-FFF2-40B4-BE49-F238E27FC236}">
                <a16:creationId xmlns:a16="http://schemas.microsoft.com/office/drawing/2014/main" id="{B0E0FB76-1CAC-5F96-CCA8-56998512189B}"/>
              </a:ext>
            </a:extLst>
          </p:cNvPr>
          <p:cNvSpPr txBox="1"/>
          <p:nvPr/>
        </p:nvSpPr>
        <p:spPr>
          <a:xfrm>
            <a:off x="4636180" y="1607667"/>
            <a:ext cx="3972821" cy="775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r>
              <a:rPr b="1" sz="800"/>
              <a:t>Tunisian Ministry of Communication Technologies and the Digital Economy | Business Analyst :</a:t>
            </a:r>
            <a:endParaRPr lang="fr-FR" sz="825" b="1" dirty="0"/>
          </a:p>
          <a:p>
            <a:pPr marL="128588" indent="-128588">
              <a:buFont typeface="Arial"/>
              <a:buChar char="•"/>
            </a:pPr>
            <a:r>
              <a:rPr sz="800"/>
              <a:t>Facilitating end-to-end data migration processes, including mapping source data, defining migration templates, and documenting technical data transformation workflows.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Serving as the technical liaison between business units and software integrators to align system requirements with project objectives.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Developing acceptance test specifications for system integration flows, managing user acceptance testing (UAT), and tracking/resolving issues prior to production deployment.</a:t>
            </a:r>
          </a:p>
        </p:txBody>
      </p:sp>
      <p:sp>
        <p:nvSpPr>
          <p:cNvPr id="883" name="Google Shape;883;p91">
            <a:extLst>
              <a:ext uri="{FF2B5EF4-FFF2-40B4-BE49-F238E27FC236}">
                <a16:creationId xmlns:a16="http://schemas.microsoft.com/office/drawing/2014/main" id="{2FDA7F64-76DE-6428-007B-88330B99488D}"/>
              </a:ext>
            </a:extLst>
          </p:cNvPr>
          <p:cNvSpPr txBox="1"/>
          <p:nvPr/>
        </p:nvSpPr>
        <p:spPr>
          <a:xfrm>
            <a:off x="134011" y="1188802"/>
            <a:ext cx="3851466" cy="2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Compétences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                                                                                                                   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5" name="Google Shape;885;p91">
            <a:extLst>
              <a:ext uri="{FF2B5EF4-FFF2-40B4-BE49-F238E27FC236}">
                <a16:creationId xmlns:a16="http://schemas.microsoft.com/office/drawing/2014/main" id="{6D45ECEE-73FB-7E87-2AC2-B5229EF62197}"/>
              </a:ext>
            </a:extLst>
          </p:cNvPr>
          <p:cNvSpPr txBox="1"/>
          <p:nvPr/>
        </p:nvSpPr>
        <p:spPr>
          <a:xfrm>
            <a:off x="134011" y="2570363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7" name="Google Shape;887;p91">
            <a:extLst>
              <a:ext uri="{FF2B5EF4-FFF2-40B4-BE49-F238E27FC236}">
                <a16:creationId xmlns:a16="http://schemas.microsoft.com/office/drawing/2014/main" id="{F05C4E19-F979-09C7-8840-72F2C08EB011}"/>
              </a:ext>
            </a:extLst>
          </p:cNvPr>
          <p:cNvSpPr txBox="1"/>
          <p:nvPr/>
        </p:nvSpPr>
        <p:spPr>
          <a:xfrm>
            <a:off x="110444" y="2812058"/>
            <a:ext cx="4200769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  <a:r>
              <a:rPr b="1" sz="800"/>
              <a:t>Ministry of Communication Technologies | PMO Deputy :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Maintaining the overall project portfolio schedule, tracking technological progress, and identifying bottlenecks in delivery.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Developing data-driven monitoring reports to provide a consolidated overview of project health and technical progress.</a:t>
            </a:r>
          </a:p>
        </p:txBody>
      </p:sp>
    </p:spTree>
    <p:extLst>
      <p:ext uri="{BB962C8B-B14F-4D97-AF65-F5344CB8AC3E}">
        <p14:creationId xmlns:p14="http://schemas.microsoft.com/office/powerpoint/2010/main" val="30555996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87;p91">
            <a:extLst>
              <a:ext uri="{FF2B5EF4-FFF2-40B4-BE49-F238E27FC236}">
                <a16:creationId xmlns:a16="http://schemas.microsoft.com/office/drawing/2014/main" id="{75E7FD45-5803-00D2-219B-FF2A18F0FF14}"/>
              </a:ext>
            </a:extLst>
          </p:cNvPr>
          <p:cNvSpPr txBox="1"/>
          <p:nvPr/>
        </p:nvSpPr>
        <p:spPr>
          <a:xfrm>
            <a:off x="238561" y="1946438"/>
            <a:ext cx="3936530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56CE3F-5B02-8F7E-C625-6F3B45A47E98}"/>
              </a:ext>
            </a:extLst>
          </p:cNvPr>
          <p:cNvSpPr txBox="1"/>
          <p:nvPr/>
        </p:nvSpPr>
        <p:spPr>
          <a:xfrm>
            <a:off x="4386106" y="1946438"/>
            <a:ext cx="4572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499" algn="just" defTabSz="914378">
              <a:buSzPts val="600"/>
            </a:pPr>
          </a:p>
        </p:txBody>
      </p:sp>
      <p:sp>
        <p:nvSpPr>
          <p:cNvPr id="10" name="Google Shape;868;p91">
            <a:extLst>
              <a:ext uri="{FF2B5EF4-FFF2-40B4-BE49-F238E27FC236}">
                <a16:creationId xmlns:a16="http://schemas.microsoft.com/office/drawing/2014/main" id="{5EE19B54-28D4-913F-4DE6-32AFED007C46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869;p91">
            <a:extLst>
              <a:ext uri="{FF2B5EF4-FFF2-40B4-BE49-F238E27FC236}">
                <a16:creationId xmlns:a16="http://schemas.microsoft.com/office/drawing/2014/main" id="{1D2C9E3B-6CFA-9A6C-2438-DCFDAEFBACD8}"/>
              </a:ext>
            </a:extLst>
          </p:cNvPr>
          <p:cNvSpPr txBox="1">
            <a:spLocks/>
          </p:cNvSpPr>
          <p:nvPr/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2"/>
              </a:buClr>
              <a:buSzPts val="1200"/>
              <a:buFont typeface="Montserrat"/>
              <a:buNone/>
            </a:pPr>
            <a:r>
              <a:rPr lang="en-GB" sz="1200" b="1">
                <a:solidFill>
                  <a:schemeClr val="lt2"/>
                </a:solidFill>
              </a:rPr>
              <a:t>Yasmine Goubantini</a:t>
            </a:r>
            <a:endParaRPr lang="en-GB" sz="1200" b="1" dirty="0">
              <a:solidFill>
                <a:schemeClr val="lt2"/>
              </a:solidFill>
            </a:endParaRPr>
          </a:p>
        </p:txBody>
      </p:sp>
      <p:sp>
        <p:nvSpPr>
          <p:cNvPr id="15" name="Google Shape;877;p91">
            <a:extLst>
              <a:ext uri="{FF2B5EF4-FFF2-40B4-BE49-F238E27FC236}">
                <a16:creationId xmlns:a16="http://schemas.microsoft.com/office/drawing/2014/main" id="{46B8542A-36C5-3E7D-9D43-8569E6C1B522}"/>
              </a:ext>
            </a:extLst>
          </p:cNvPr>
          <p:cNvSpPr txBox="1">
            <a:spLocks/>
          </p:cNvSpPr>
          <p:nvPr/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GB" sz="900" b="1">
                <a:solidFill>
                  <a:schemeClr val="dk1"/>
                </a:solidFill>
              </a:rPr>
              <a:t>Business Analyst</a:t>
            </a:r>
            <a:endParaRPr lang="en-GB" sz="900" b="1" dirty="0">
              <a:solidFill>
                <a:schemeClr val="dk1"/>
              </a:solidFill>
            </a:endParaRPr>
          </a:p>
        </p:txBody>
      </p:sp>
      <p:sp>
        <p:nvSpPr>
          <p:cNvPr id="26" name="Google Shape;885;p91">
            <a:extLst>
              <a:ext uri="{FF2B5EF4-FFF2-40B4-BE49-F238E27FC236}">
                <a16:creationId xmlns:a16="http://schemas.microsoft.com/office/drawing/2014/main" id="{339EE12A-2666-5232-B00C-CC23BD4243E8}"/>
              </a:ext>
            </a:extLst>
          </p:cNvPr>
          <p:cNvSpPr txBox="1"/>
          <p:nvPr/>
        </p:nvSpPr>
        <p:spPr>
          <a:xfrm>
            <a:off x="134011" y="1649191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487821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744</Words>
  <Application>Microsoft Office PowerPoint</Application>
  <PresentationFormat>Affichage à l'écran (16:9)</PresentationFormat>
  <Paragraphs>68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Montserrat</vt:lpstr>
      <vt:lpstr>Montserrat SemiBold</vt:lpstr>
      <vt:lpstr>Verdana</vt:lpstr>
      <vt:lpstr>Arial</vt:lpstr>
      <vt:lpstr>Montserrat Medium</vt:lpstr>
      <vt:lpstr>Century Gothic</vt:lpstr>
      <vt:lpstr>Montserrat Light</vt:lpstr>
      <vt:lpstr>Simple Light</vt:lpstr>
      <vt:lpstr>Simple Light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BEN AYED</dc:creator>
  <cp:lastModifiedBy>mehdi kallala</cp:lastModifiedBy>
  <cp:revision>128</cp:revision>
  <dcterms:modified xsi:type="dcterms:W3CDTF">2026-08-17T08:16:30Z</dcterms:modified>
</cp:coreProperties>
</file>
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4" r:id="rId1"/>
    <p:sldMasterId id="2147483715" r:id="rId2"/>
  </p:sldMasterIdLst>
  <p:notesMasterIdLst>
    <p:notesMasterId r:id="rId5"/>
  </p:notesMasterIdLst>
  <p:sldIdLst>
    <p:sldId id="307" r:id="rId3"/>
    <p:sldId id="308" r:id="rId4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6"/>
      <p:bold r:id="rId7"/>
      <p:italic r:id="rId8"/>
      <p:boldItalic r:id="rId9"/>
    </p:embeddedFont>
    <p:embeddedFont>
      <p:font typeface="Montserrat" panose="00000500000000000000" pitchFamily="2" charset="0"/>
      <p:regular r:id="rId10"/>
      <p:bold r:id="rId11"/>
      <p:italic r:id="rId12"/>
      <p:boldItalic r:id="rId13"/>
    </p:embeddedFont>
    <p:embeddedFont>
      <p:font typeface="Montserrat Light" panose="00000400000000000000" pitchFamily="2" charset="0"/>
      <p:regular r:id="rId14"/>
      <p:bold r:id="rId15"/>
      <p:italic r:id="rId16"/>
      <p:boldItalic r:id="rId17"/>
    </p:embeddedFont>
    <p:embeddedFont>
      <p:font typeface="Montserrat Medium" panose="00000600000000000000" pitchFamily="2" charset="0"/>
      <p:regular r:id="rId18"/>
      <p:bold r:id="rId19"/>
      <p:italic r:id="rId20"/>
      <p:boldItalic r:id="rId21"/>
    </p:embeddedFont>
    <p:embeddedFont>
      <p:font typeface="Montserrat SemiBold" panose="00000700000000000000" pitchFamily="2" charset="0"/>
      <p:regular r:id="rId22"/>
      <p:bold r:id="rId23"/>
      <p:italic r:id="rId24"/>
      <p:boldItalic r:id="rId25"/>
    </p:embeddedFont>
    <p:embeddedFont>
      <p:font typeface="Verdana" panose="020B060403050404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96" autoAdjust="0"/>
  </p:normalViewPr>
  <p:slideViewPr>
    <p:cSldViewPr snapToGrid="0">
      <p:cViewPr varScale="1">
        <p:scale>
          <a:sx n="102" d="100"/>
          <a:sy n="102" d="100"/>
        </p:scale>
        <p:origin x="1589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26" Type="http://schemas.openxmlformats.org/officeDocument/2006/relationships/font" Target="fonts/font21.fntdata"/><Relationship Id="rId3" Type="http://schemas.openxmlformats.org/officeDocument/2006/relationships/slide" Target="slides/slide1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font" Target="fonts/font20.fntdata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29" Type="http://schemas.openxmlformats.org/officeDocument/2006/relationships/font" Target="fonts/font24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font" Target="fonts/font19.fntdata"/><Relationship Id="rId32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font" Target="fonts/font18.fntdata"/><Relationship Id="rId28" Type="http://schemas.openxmlformats.org/officeDocument/2006/relationships/font" Target="fonts/font23.fntdata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font" Target="fonts/font17.fntdata"/><Relationship Id="rId27" Type="http://schemas.openxmlformats.org/officeDocument/2006/relationships/font" Target="fonts/font22.fntdata"/><Relationship Id="rId30" Type="http://schemas.openxmlformats.org/officeDocument/2006/relationships/presProps" Target="presProps.xml"/><Relationship Id="rId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>
          <a:extLst>
            <a:ext uri="{FF2B5EF4-FFF2-40B4-BE49-F238E27FC236}">
              <a16:creationId xmlns:a16="http://schemas.microsoft.com/office/drawing/2014/main" id="{924A6FFB-6134-EF9E-6A7E-C5032538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f517f0088e_2_695:notes">
            <a:extLst>
              <a:ext uri="{FF2B5EF4-FFF2-40B4-BE49-F238E27FC236}">
                <a16:creationId xmlns:a16="http://schemas.microsoft.com/office/drawing/2014/main" id="{DAD1A018-DF5F-ECE4-5E64-5D72F18321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6" name="Google Shape;866;g3f517f0088e_2_695:notes">
            <a:extLst>
              <a:ext uri="{FF2B5EF4-FFF2-40B4-BE49-F238E27FC236}">
                <a16:creationId xmlns:a16="http://schemas.microsoft.com/office/drawing/2014/main" id="{1C3BA472-989D-3C5B-BC1A-C377FF693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933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emplate - keep it empty">
  <p:cSld name="Blank template - keep it empt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sldNum" idx="12"/>
          </p:nvPr>
        </p:nvSpPr>
        <p:spPr>
          <a:xfrm>
            <a:off x="8556775" y="4861575"/>
            <a:ext cx="587100" cy="1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4) Content - One title and extra long text">
  <p:cSld name="44) Content - One title and extra long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>
            <a:spLocks noGrp="1"/>
          </p:cNvSpPr>
          <p:nvPr>
            <p:ph type="subTitle" idx="1"/>
          </p:nvPr>
        </p:nvSpPr>
        <p:spPr>
          <a:xfrm>
            <a:off x="587225" y="1165925"/>
            <a:ext cx="3324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"/>
              <a:buNone/>
              <a:defRPr sz="1000" b="1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3" name="Google Shape;103;p22"/>
          <p:cNvSpPr txBox="1">
            <a:spLocks noGrp="1"/>
          </p:cNvSpPr>
          <p:nvPr>
            <p:ph type="body" idx="2"/>
          </p:nvPr>
        </p:nvSpPr>
        <p:spPr>
          <a:xfrm>
            <a:off x="587225" y="1506375"/>
            <a:ext cx="7885200" cy="29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04" name="Google Shape;104;p22"/>
          <p:cNvSpPr txBox="1">
            <a:spLocks noGrp="1"/>
          </p:cNvSpPr>
          <p:nvPr>
            <p:ph type="title"/>
          </p:nvPr>
        </p:nvSpPr>
        <p:spPr>
          <a:xfrm>
            <a:off x="587225" y="572700"/>
            <a:ext cx="54975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pic>
        <p:nvPicPr>
          <p:cNvPr id="105" name="Google Shape;105;p22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75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pic>
        <p:nvPicPr>
          <p:cNvPr id="114" name="Google Shape;114;p24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5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pic>
        <p:nvPicPr>
          <p:cNvPr id="117" name="Google Shape;117;p25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) Empty">
  <p:cSld name="1) Empty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6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Blank White template">
  <p:cSld name="16_Blank White template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7"/>
          <p:cNvSpPr txBox="1">
            <a:spLocks noGrp="1"/>
          </p:cNvSpPr>
          <p:nvPr>
            <p:ph type="sldNum" idx="12"/>
          </p:nvPr>
        </p:nvSpPr>
        <p:spPr>
          <a:xfrm>
            <a:off x="6695471" y="4718888"/>
            <a:ext cx="2057400" cy="27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22" name="Google Shape;122;p27"/>
          <p:cNvSpPr txBox="1">
            <a:spLocks noGrp="1"/>
          </p:cNvSpPr>
          <p:nvPr>
            <p:ph type="title"/>
          </p:nvPr>
        </p:nvSpPr>
        <p:spPr>
          <a:xfrm>
            <a:off x="391130" y="330362"/>
            <a:ext cx="8361675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7"/>
          <p:cNvSpPr txBox="1">
            <a:spLocks noGrp="1"/>
          </p:cNvSpPr>
          <p:nvPr>
            <p:ph type="body" idx="1"/>
          </p:nvPr>
        </p:nvSpPr>
        <p:spPr>
          <a:xfrm>
            <a:off x="391129" y="939998"/>
            <a:ext cx="8361675" cy="186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marL="274320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124" name="Google Shape;124;p27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8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7" name="Google Shape;127;p28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28" name="Google Shape;128;p28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800" b="0" i="0">
                <a:solidFill>
                  <a:srgbClr val="3B3B39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9"/>
          <p:cNvSpPr txBox="1">
            <a:spLocks noGrp="1"/>
          </p:cNvSpPr>
          <p:nvPr>
            <p:ph type="body" idx="1"/>
          </p:nvPr>
        </p:nvSpPr>
        <p:spPr>
          <a:xfrm>
            <a:off x="706450" y="1262075"/>
            <a:ext cx="4556100" cy="20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900" b="0" i="0">
                <a:solidFill>
                  <a:srgbClr val="55545A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2" name="Google Shape;132;p2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3" name="Google Shape;133;p2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34" name="Google Shape;134;p29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9"/>
          <p:cNvSpPr txBox="1"/>
          <p:nvPr/>
        </p:nvSpPr>
        <p:spPr>
          <a:xfrm>
            <a:off x="4984500" y="4923200"/>
            <a:ext cx="4038600" cy="19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None/>
            </a:pPr>
            <a:fld id="{00000000-1234-1234-1234-123412341234}" type="slidenum">
              <a:rPr lang="en-GB" sz="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) Divider - Title left double pink dots">
  <p:cSld name="10) Divider - Title left double pink dots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0"/>
          <p:cNvSpPr txBox="1">
            <a:spLocks noGrp="1"/>
          </p:cNvSpPr>
          <p:nvPr>
            <p:ph type="body" idx="1"/>
          </p:nvPr>
        </p:nvSpPr>
        <p:spPr>
          <a:xfrm>
            <a:off x="5795700" y="1362925"/>
            <a:ext cx="2761200" cy="21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38" name="Google Shape;138;p30"/>
          <p:cNvSpPr txBox="1">
            <a:spLocks noGrp="1"/>
          </p:cNvSpPr>
          <p:nvPr>
            <p:ph type="title"/>
          </p:nvPr>
        </p:nvSpPr>
        <p:spPr>
          <a:xfrm>
            <a:off x="1080003" y="1800450"/>
            <a:ext cx="3387600" cy="15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2200"/>
              <a:buFont typeface="Montserrat Light"/>
              <a:buNone/>
              <a:defRPr sz="42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pic>
        <p:nvPicPr>
          <p:cNvPr id="139" name="Google Shape;139;p30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655500"/>
            <a:ext cx="591600" cy="148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30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30"/>
          <p:cNvSpPr txBox="1"/>
          <p:nvPr/>
        </p:nvSpPr>
        <p:spPr>
          <a:xfrm>
            <a:off x="4565400" y="4783500"/>
            <a:ext cx="4038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</a:pPr>
            <a:fld id="{00000000-1234-1234-1234-123412341234}" type="slidenum">
              <a:rPr lang="en-GB" sz="8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‹N°›</a:t>
            </a:fld>
            <a:endParaRPr sz="800" b="0" i="0" u="none" strike="noStrike" cap="none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4) Thank you">
  <p:cSld name="64) Thank you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" y="-25"/>
            <a:ext cx="8817430" cy="4959804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019"/>
              </a:srgbClr>
            </a:outerShdw>
          </a:effectLst>
        </p:spPr>
      </p:pic>
      <p:pic>
        <p:nvPicPr>
          <p:cNvPr id="144" name="Google Shape;144;p31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87225" y="553501"/>
            <a:ext cx="1115848" cy="3341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31"/>
          <p:cNvSpPr txBox="1"/>
          <p:nvPr/>
        </p:nvSpPr>
        <p:spPr>
          <a:xfrm>
            <a:off x="1080000" y="2073000"/>
            <a:ext cx="6983700" cy="9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/>
              <a:buNone/>
            </a:pPr>
            <a:r>
              <a:rPr lang="en-GB" sz="7100" b="0" i="0" u="none" strike="noStrike" cap="none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Thank</a:t>
            </a:r>
            <a:r>
              <a:rPr lang="en-GB" sz="7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you.</a:t>
            </a:r>
            <a:endParaRPr sz="7100" b="1" i="0" u="none" strike="noStrike" cap="non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5) Content - Display other material 1">
  <p:cSld name="45) Content - Display other material 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32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177" r="70151"/>
          <a:stretch/>
        </p:blipFill>
        <p:spPr>
          <a:xfrm rot="5400000" flipH="1">
            <a:off x="7276726" y="-905925"/>
            <a:ext cx="999449" cy="2773202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32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Montserrat"/>
              <a:buNone/>
            </a:pPr>
            <a:fld id="{00000000-1234-1234-1234-123412341234}" type="slidenum">
              <a:rPr lang="en-GB" sz="1000" b="1" i="0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1000" b="1" i="0" u="none" strike="noStrike" cap="none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9" name="Google Shape;149;p32"/>
          <p:cNvSpPr txBox="1">
            <a:spLocks noGrp="1"/>
          </p:cNvSpPr>
          <p:nvPr>
            <p:ph type="title"/>
          </p:nvPr>
        </p:nvSpPr>
        <p:spPr>
          <a:xfrm>
            <a:off x="587225" y="607050"/>
            <a:ext cx="4821600" cy="2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>
            <a:spLocks noGrp="1"/>
          </p:cNvSpPr>
          <p:nvPr>
            <p:ph type="title"/>
          </p:nvPr>
        </p:nvSpPr>
        <p:spPr>
          <a:xfrm>
            <a:off x="457200" y="205740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2400" b="1">
                <a:solidFill>
                  <a:srgbClr val="9C6E0D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4"/>
          <p:cNvSpPr txBox="1">
            <a:spLocks noGrp="1"/>
          </p:cNvSpPr>
          <p:nvPr>
            <p:ph type="sldNum" idx="12"/>
          </p:nvPr>
        </p:nvSpPr>
        <p:spPr>
          <a:xfrm>
            <a:off x="6922240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67" name="Google Shape;167;p34"/>
          <p:cNvSpPr txBox="1">
            <a:spLocks noGrp="1"/>
          </p:cNvSpPr>
          <p:nvPr>
            <p:ph type="dt" idx="10"/>
          </p:nvPr>
        </p:nvSpPr>
        <p:spPr>
          <a:xfrm>
            <a:off x="292261" y="4856789"/>
            <a:ext cx="2103000" cy="107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5"/>
          <p:cNvSpPr txBox="1">
            <a:spLocks noGrp="1"/>
          </p:cNvSpPr>
          <p:nvPr>
            <p:ph type="title"/>
          </p:nvPr>
        </p:nvSpPr>
        <p:spPr>
          <a:xfrm>
            <a:off x="457200" y="205740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2400" b="1">
                <a:solidFill>
                  <a:srgbClr val="9C6E0D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5"/>
          <p:cNvSpPr txBox="1">
            <a:spLocks noGrp="1"/>
          </p:cNvSpPr>
          <p:nvPr>
            <p:ph type="sldNum" idx="12"/>
          </p:nvPr>
        </p:nvSpPr>
        <p:spPr>
          <a:xfrm>
            <a:off x="6922240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71" name="Google Shape;171;p35"/>
          <p:cNvSpPr txBox="1">
            <a:spLocks noGrp="1"/>
          </p:cNvSpPr>
          <p:nvPr>
            <p:ph type="dt" idx="10"/>
          </p:nvPr>
        </p:nvSpPr>
        <p:spPr>
          <a:xfrm>
            <a:off x="292261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mpaign summary">
  <p:cSld name="Campaign summary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6"/>
          <p:cNvSpPr txBox="1">
            <a:spLocks noGrp="1"/>
          </p:cNvSpPr>
          <p:nvPr>
            <p:ph type="body" idx="1"/>
          </p:nvPr>
        </p:nvSpPr>
        <p:spPr>
          <a:xfrm>
            <a:off x="540000" y="1080000"/>
            <a:ext cx="6156300" cy="3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74" name="Google Shape;174;p36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36"/>
          <p:cNvSpPr txBox="1">
            <a:spLocks noGrp="1"/>
          </p:cNvSpPr>
          <p:nvPr>
            <p:ph type="subTitle" idx="2"/>
          </p:nvPr>
        </p:nvSpPr>
        <p:spPr>
          <a:xfrm>
            <a:off x="540000" y="648125"/>
            <a:ext cx="8064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9pPr>
          </a:lstStyle>
          <a:p>
            <a:endParaRPr/>
          </a:p>
        </p:txBody>
      </p:sp>
      <p:sp>
        <p:nvSpPr>
          <p:cNvPr id="176" name="Google Shape;176;p36"/>
          <p:cNvSpPr/>
          <p:nvPr/>
        </p:nvSpPr>
        <p:spPr>
          <a:xfrm>
            <a:off x="6896050" y="1079975"/>
            <a:ext cx="1708200" cy="346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77" name="Google Shape;177;p36"/>
          <p:cNvSpPr txBox="1">
            <a:spLocks noGrp="1"/>
          </p:cNvSpPr>
          <p:nvPr>
            <p:ph type="body" idx="3"/>
          </p:nvPr>
        </p:nvSpPr>
        <p:spPr>
          <a:xfrm>
            <a:off x="6984550" y="1465500"/>
            <a:ext cx="1531200" cy="29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78" name="Google Shape;178;p36"/>
          <p:cNvSpPr txBox="1">
            <a:spLocks noGrp="1"/>
          </p:cNvSpPr>
          <p:nvPr>
            <p:ph type="subTitle" idx="4"/>
          </p:nvPr>
        </p:nvSpPr>
        <p:spPr>
          <a:xfrm>
            <a:off x="6984550" y="1192950"/>
            <a:ext cx="1531200" cy="1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with Subtitle">
  <p:cSld name="Title Only with Subtitle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7"/>
          <p:cNvSpPr txBox="1">
            <a:spLocks noGrp="1"/>
          </p:cNvSpPr>
          <p:nvPr>
            <p:ph type="title"/>
          </p:nvPr>
        </p:nvSpPr>
        <p:spPr>
          <a:xfrm>
            <a:off x="337029" y="233533"/>
            <a:ext cx="8393700" cy="8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37"/>
          <p:cNvSpPr txBox="1">
            <a:spLocks noGrp="1"/>
          </p:cNvSpPr>
          <p:nvPr>
            <p:ph type="body" idx="1"/>
          </p:nvPr>
        </p:nvSpPr>
        <p:spPr>
          <a:xfrm>
            <a:off x="336130" y="631589"/>
            <a:ext cx="839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  <a:defRPr sz="1500"/>
            </a:lvl1pPr>
            <a:lvl2pPr marL="914400" lvl="1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5) Content - Display other material 1 1">
  <p:cSld name="45) Content - Display other material 1 1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38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177" r="70151"/>
          <a:stretch/>
        </p:blipFill>
        <p:spPr>
          <a:xfrm rot="5400000" flipH="1">
            <a:off x="7276727" y="-905925"/>
            <a:ext cx="999451" cy="2773199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8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800"/>
              <a:buFont typeface="Montserrat"/>
              <a:buNone/>
            </a:pPr>
            <a:fld id="{00000000-1234-1234-1234-123412341234}" type="slidenum">
              <a:rPr lang="en-GB" sz="1000" b="1" i="0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1000" b="1" i="0" u="none" strike="noStrike" cap="none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5" name="Google Shape;185;p38"/>
          <p:cNvSpPr txBox="1">
            <a:spLocks noGrp="1"/>
          </p:cNvSpPr>
          <p:nvPr>
            <p:ph type="title"/>
          </p:nvPr>
        </p:nvSpPr>
        <p:spPr>
          <a:xfrm>
            <a:off x="587225" y="607050"/>
            <a:ext cx="4821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, subheader, text">
  <p:cSld name="Header, subheader, text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9"/>
          <p:cNvSpPr txBox="1">
            <a:spLocks noGrp="1"/>
          </p:cNvSpPr>
          <p:nvPr>
            <p:ph type="body" idx="1"/>
          </p:nvPr>
        </p:nvSpPr>
        <p:spPr>
          <a:xfrm>
            <a:off x="540000" y="1080000"/>
            <a:ext cx="8064000" cy="3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88" name="Google Shape;188;p39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39"/>
          <p:cNvSpPr txBox="1">
            <a:spLocks noGrp="1"/>
          </p:cNvSpPr>
          <p:nvPr>
            <p:ph type="subTitle" idx="2"/>
          </p:nvPr>
        </p:nvSpPr>
        <p:spPr>
          <a:xfrm>
            <a:off x="540000" y="648125"/>
            <a:ext cx="8064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emplate - keep it empty 1">
  <p:cSld name="Blank template - keep it empty 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0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7794" y="4853118"/>
            <a:ext cx="229569" cy="2297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0312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 Medium"/>
              <a:buNone/>
              <a:defRPr sz="1100" b="0" i="0" u="none" strike="noStrike" cap="non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06450" y="1262075"/>
            <a:ext cx="4556100" cy="20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4" r:id="rId17"/>
    <p:sldLayoutId id="2147483720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0.jpeg"/><Relationship Id="rId5" Type="http://schemas.openxmlformats.org/officeDocument/2006/relationships/image" Target="../media/image9.gif"/><Relationship Id="rId4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>
          <a:extLst>
            <a:ext uri="{FF2B5EF4-FFF2-40B4-BE49-F238E27FC236}">
              <a16:creationId xmlns:a16="http://schemas.microsoft.com/office/drawing/2014/main" id="{14D968AC-0D9E-6E5B-5690-27A800760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91">
            <a:extLst>
              <a:ext uri="{FF2B5EF4-FFF2-40B4-BE49-F238E27FC236}">
                <a16:creationId xmlns:a16="http://schemas.microsoft.com/office/drawing/2014/main" id="{A24817D9-8F3A-4404-9889-2287793E4BF1}"/>
              </a:ext>
            </a:extLst>
          </p:cNvPr>
          <p:cNvSpPr/>
          <p:nvPr/>
        </p:nvSpPr>
        <p:spPr>
          <a:xfrm>
            <a:off x="0" y="0"/>
            <a:ext cx="9144000" cy="1051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9" name="Google Shape;869;p91">
            <a:extLst>
              <a:ext uri="{FF2B5EF4-FFF2-40B4-BE49-F238E27FC236}">
                <a16:creationId xmlns:a16="http://schemas.microsoft.com/office/drawing/2014/main" id="{0DC2ECCA-800A-BD4F-4BA2-58740FDCD1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13874" y="154850"/>
            <a:ext cx="200353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buClr>
                <a:schemeClr val="dk2"/>
              </a:buClr>
              <a:buSzPts val="1200"/>
              <a:buNone/>
            </a:pPr>
            <a:r>
              <a:rPr lang="en-GB" sz="1200" b="1" dirty="0">
                <a:solidFill>
                  <a:schemeClr val="lt2"/>
                </a:solidFill>
              </a:rPr>
              <a:t>Habiba Cyrine BELHADJ</a:t>
            </a:r>
            <a:endParaRPr sz="1200" b="1" dirty="0">
              <a:solidFill>
                <a:schemeClr val="lt2"/>
              </a:solidFill>
            </a:endParaRPr>
          </a:p>
        </p:txBody>
      </p:sp>
      <p:sp>
        <p:nvSpPr>
          <p:cNvPr id="870" name="Google Shape;870;p91">
            <a:extLst>
              <a:ext uri="{FF2B5EF4-FFF2-40B4-BE49-F238E27FC236}">
                <a16:creationId xmlns:a16="http://schemas.microsoft.com/office/drawing/2014/main" id="{2276CE7D-5B4D-6045-E0EB-C3AC08E9201F}"/>
              </a:ext>
            </a:extLst>
          </p:cNvPr>
          <p:cNvSpPr txBox="1"/>
          <p:nvPr/>
        </p:nvSpPr>
        <p:spPr>
          <a:xfrm>
            <a:off x="3615992" y="66731"/>
            <a:ext cx="5357100" cy="999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499" algn="just" defTabSz="914378">
              <a:buSzPts val="600"/>
            </a:pPr>
            <a:r>
              <a:rPr lang="fr-FR" sz="800" dirty="0">
                <a:latin typeface="Montserrat"/>
              </a:rPr>
              <a:t>Habiba dispose de 6 ans d’expérience dans le secteur bancaire, spécialisée dans la transformation digitale et l'optimisation des processus métiers, avec une expertise forte en </a:t>
            </a:r>
            <a:r>
              <a:rPr lang="fr-FR" sz="800" b="1" dirty="0" err="1">
                <a:latin typeface="Montserrat"/>
              </a:rPr>
              <a:t>Corporate</a:t>
            </a:r>
            <a:r>
              <a:rPr lang="fr-FR" sz="800" b="1" dirty="0">
                <a:latin typeface="Montserrat"/>
              </a:rPr>
              <a:t> </a:t>
            </a:r>
            <a:r>
              <a:rPr lang="fr-FR" sz="800" b="1" dirty="0" err="1">
                <a:latin typeface="Montserrat"/>
              </a:rPr>
              <a:t>Lending</a:t>
            </a:r>
            <a:r>
              <a:rPr lang="fr-FR" sz="800" dirty="0">
                <a:latin typeface="Montserrat"/>
              </a:rPr>
              <a:t>. Experte du cadrage à la livraison, elle combine une solide maîtrise des méthodologies Agiles et une maitrise du </a:t>
            </a:r>
            <a:r>
              <a:rPr lang="fr-FR" sz="800" b="1" dirty="0">
                <a:latin typeface="Montserrat"/>
              </a:rPr>
              <a:t>QA</a:t>
            </a:r>
            <a:r>
              <a:rPr lang="fr-FR" sz="800" dirty="0">
                <a:latin typeface="Montserrat"/>
              </a:rPr>
              <a:t> pour garantir la valeur et la conformité des solutions déployées. Habituée à collaborer étroitement avec les équipes métiers et IT, elle intervient sur des projets stratégiques à forte valeur ajoutée.</a:t>
            </a:r>
            <a:endParaRPr sz="800" dirty="0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871" name="Google Shape;871;p91">
            <a:extLst>
              <a:ext uri="{FF2B5EF4-FFF2-40B4-BE49-F238E27FC236}">
                <a16:creationId xmlns:a16="http://schemas.microsoft.com/office/drawing/2014/main" id="{5D2FDB83-471C-D5F8-971A-72D4B1D6A61C}"/>
              </a:ext>
            </a:extLst>
          </p:cNvPr>
          <p:cNvCxnSpPr/>
          <p:nvPr/>
        </p:nvCxnSpPr>
        <p:spPr>
          <a:xfrm>
            <a:off x="3616697" y="154850"/>
            <a:ext cx="0" cy="68670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2" name="Google Shape;872;p91">
            <a:extLst>
              <a:ext uri="{FF2B5EF4-FFF2-40B4-BE49-F238E27FC236}">
                <a16:creationId xmlns:a16="http://schemas.microsoft.com/office/drawing/2014/main" id="{B5A7B248-FF6E-6D0B-A4E7-8D5861EBD330}"/>
              </a:ext>
            </a:extLst>
          </p:cNvPr>
          <p:cNvSpPr/>
          <p:nvPr/>
        </p:nvSpPr>
        <p:spPr>
          <a:xfrm>
            <a:off x="1613875" y="860450"/>
            <a:ext cx="1648500" cy="290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r>
              <a:rPr lang="en-GB" sz="900" b="1" dirty="0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6 </a:t>
            </a:r>
            <a:r>
              <a:rPr lang="en-GB" sz="900" b="1" dirty="0" err="1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ans</a:t>
            </a:r>
            <a:r>
              <a:rPr lang="en-GB" sz="900" b="1" dirty="0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GB" sz="900" b="1" dirty="0" err="1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>d’expérience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4" name="Google Shape;874;p91">
            <a:extLst>
              <a:ext uri="{FF2B5EF4-FFF2-40B4-BE49-F238E27FC236}">
                <a16:creationId xmlns:a16="http://schemas.microsoft.com/office/drawing/2014/main" id="{92BA0080-689C-BD8B-439C-BAC02A57C612}"/>
              </a:ext>
            </a:extLst>
          </p:cNvPr>
          <p:cNvSpPr txBox="1"/>
          <p:nvPr/>
        </p:nvSpPr>
        <p:spPr>
          <a:xfrm>
            <a:off x="131077" y="2140702"/>
            <a:ext cx="7909539" cy="15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Formation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77" name="Google Shape;877;p91">
            <a:extLst>
              <a:ext uri="{FF2B5EF4-FFF2-40B4-BE49-F238E27FC236}">
                <a16:creationId xmlns:a16="http://schemas.microsoft.com/office/drawing/2014/main" id="{8F57F1C4-1203-3ECB-B40D-FB8546B24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13875" y="444175"/>
            <a:ext cx="1747800" cy="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spcAft>
                <a:spcPts val="1200"/>
              </a:spcAft>
              <a:buClr>
                <a:schemeClr val="dk1"/>
              </a:buClr>
              <a:buSzPts val="800"/>
              <a:buNone/>
            </a:pPr>
            <a:r>
              <a:rPr lang="en-GB" sz="900" b="1" dirty="0">
                <a:solidFill>
                  <a:schemeClr val="dk1"/>
                </a:solidFill>
              </a:rPr>
              <a:t>Senior Transformation Consultant</a:t>
            </a:r>
            <a:endParaRPr sz="900" b="1" dirty="0">
              <a:solidFill>
                <a:schemeClr val="dk1"/>
              </a:solidFill>
            </a:endParaRPr>
          </a:p>
        </p:txBody>
      </p:sp>
      <p:cxnSp>
        <p:nvCxnSpPr>
          <p:cNvPr id="878" name="Google Shape;878;p91">
            <a:extLst>
              <a:ext uri="{FF2B5EF4-FFF2-40B4-BE49-F238E27FC236}">
                <a16:creationId xmlns:a16="http://schemas.microsoft.com/office/drawing/2014/main" id="{BF457A0F-436C-C492-EB9D-B3920614B8DF}"/>
              </a:ext>
            </a:extLst>
          </p:cNvPr>
          <p:cNvCxnSpPr/>
          <p:nvPr/>
        </p:nvCxnSpPr>
        <p:spPr>
          <a:xfrm>
            <a:off x="-5911630" y="4639531"/>
            <a:ext cx="0" cy="350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9" name="Google Shape;879;p91">
            <a:extLst>
              <a:ext uri="{FF2B5EF4-FFF2-40B4-BE49-F238E27FC236}">
                <a16:creationId xmlns:a16="http://schemas.microsoft.com/office/drawing/2014/main" id="{09BFD0FF-EF97-423E-7ED3-074E5139A1E0}"/>
              </a:ext>
            </a:extLst>
          </p:cNvPr>
          <p:cNvSpPr txBox="1"/>
          <p:nvPr/>
        </p:nvSpPr>
        <p:spPr>
          <a:xfrm>
            <a:off x="131076" y="2327844"/>
            <a:ext cx="3978000" cy="186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/>
          <a:p>
            <a:pPr algn="just" defTabSz="914378"/>
            <a:r>
              <a:rPr lang="fr-FR" sz="800" dirty="0">
                <a:latin typeface="Montserrat"/>
                <a:ea typeface="Montserrat"/>
                <a:cs typeface="Montserrat"/>
                <a:sym typeface="Montserrat"/>
              </a:rPr>
              <a:t>Mastère Recherche en Sciences de Gestion : Finance (ESCT)</a:t>
            </a:r>
          </a:p>
        </p:txBody>
      </p:sp>
      <p:sp>
        <p:nvSpPr>
          <p:cNvPr id="881" name="Google Shape;881;p91">
            <a:extLst>
              <a:ext uri="{FF2B5EF4-FFF2-40B4-BE49-F238E27FC236}">
                <a16:creationId xmlns:a16="http://schemas.microsoft.com/office/drawing/2014/main" id="{7246D18B-D38D-D65C-14FD-C441A59F911E}"/>
              </a:ext>
            </a:extLst>
          </p:cNvPr>
          <p:cNvSpPr txBox="1"/>
          <p:nvPr/>
        </p:nvSpPr>
        <p:spPr>
          <a:xfrm>
            <a:off x="77051" y="1435442"/>
            <a:ext cx="4153168" cy="1571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Business </a:t>
            </a:r>
            <a:r>
              <a:rPr lang="fr-FR" sz="800" dirty="0" err="1">
                <a:latin typeface="Montserrat"/>
              </a:rPr>
              <a:t>Analysis</a:t>
            </a:r>
            <a:r>
              <a:rPr lang="fr-FR" sz="800" dirty="0">
                <a:latin typeface="Montserrat"/>
              </a:rPr>
              <a:t> &amp; AMOA bancaire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Expertise fonctionnelle Crédit </a:t>
            </a:r>
            <a:r>
              <a:rPr lang="fr-FR" sz="800" dirty="0" err="1">
                <a:latin typeface="Montserrat"/>
              </a:rPr>
              <a:t>Crédit</a:t>
            </a:r>
            <a:r>
              <a:rPr lang="fr-FR" sz="800" dirty="0">
                <a:latin typeface="Montserrat"/>
              </a:rPr>
              <a:t> </a:t>
            </a:r>
            <a:r>
              <a:rPr lang="fr-FR" sz="800" dirty="0" err="1">
                <a:latin typeface="Montserrat"/>
              </a:rPr>
              <a:t>Corporate</a:t>
            </a:r>
            <a:r>
              <a:rPr lang="fr-FR" sz="800" dirty="0">
                <a:latin typeface="Montserrat"/>
              </a:rPr>
              <a:t> / Professionnels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Modélisation et optimisation des processus métiers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Méthodologies Agile Scrum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Recette fonctionnelle </a:t>
            </a:r>
          </a:p>
        </p:txBody>
      </p:sp>
      <p:sp>
        <p:nvSpPr>
          <p:cNvPr id="882" name="Google Shape;882;p91">
            <a:extLst>
              <a:ext uri="{FF2B5EF4-FFF2-40B4-BE49-F238E27FC236}">
                <a16:creationId xmlns:a16="http://schemas.microsoft.com/office/drawing/2014/main" id="{B0E0FB76-1CAC-5F96-CCA8-56998512189B}"/>
              </a:ext>
            </a:extLst>
          </p:cNvPr>
          <p:cNvSpPr txBox="1"/>
          <p:nvPr/>
        </p:nvSpPr>
        <p:spPr>
          <a:xfrm>
            <a:off x="4636180" y="1607667"/>
            <a:ext cx="3972821" cy="775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endParaRPr lang="fr-FR" sz="825" b="1" dirty="0"/>
          </a:p>
          <a:p>
            <a:r>
              <a:rPr lang="fr-FR" sz="800" b="1" dirty="0">
                <a:latin typeface="Montserrat"/>
              </a:rPr>
              <a:t>BMCI (Maroc) | Digitalisation des processus d’instruction de crédits :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Analyse et optimisation des processus d’octroi de crédits pour les marchés Entreprises, Professionnels et SME.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Animation des ateliers de cadrage fonctionnel et analyse des écarts par rapport au standard.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Rédaction des spécifications fonctionnelles générales et détaillées.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Modélisation des processus métiers selon la norme BPMN.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Définition des règles de gestion et parcours fonctionnels.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Élaboration des cahiers de recette et scénarios de tests.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Accompagnement des équipes de développement et validation des fonctionnalités livrées. </a:t>
            </a:r>
            <a:br>
              <a:rPr lang="fr-FR" sz="800" dirty="0">
                <a:latin typeface="Montserrat"/>
              </a:rPr>
            </a:br>
            <a:endParaRPr lang="fr-FR" sz="800" dirty="0">
              <a:latin typeface="Montserrat"/>
            </a:endParaRPr>
          </a:p>
          <a:p>
            <a:r>
              <a:rPr lang="fr-FR" sz="800" b="1" dirty="0">
                <a:latin typeface="Montserrat"/>
              </a:rPr>
              <a:t>CIH Bank (Maroc) | Digitalisation des processus d’octroi de crédits :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Mise en place d’une solution d’automatisation des processus d’octroi de crédits pour les marchés Entreprises, Professionnels et Promotions Immobilières.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Analyse fonctionnelle des parcours crédit et identification des besoins métiers.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Animation des ateliers de cadrage et formalisation des exigences fonctionnelles.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Rédaction des spécifications fonctionnelles détaillées.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Modélisation et optimisation des workflows de traitement crédit.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Élaboration des plans de tests et cahiers de recette. </a:t>
            </a:r>
          </a:p>
          <a:p>
            <a:pPr marL="128588" indent="-128588">
              <a:buFont typeface="Arial" panose="020B0604020202020204" pitchFamily="34" charset="0"/>
              <a:buChar char="•"/>
            </a:pPr>
            <a:r>
              <a:rPr lang="fr-FR" sz="800" dirty="0">
                <a:latin typeface="Montserrat"/>
              </a:rPr>
              <a:t>Accompagnement des équipes métiers et IT jusqu’à la validation des solutions. </a:t>
            </a:r>
          </a:p>
          <a:p>
            <a:pPr marL="63499" algn="just" defTabSz="914378">
              <a:buSzPts val="600"/>
            </a:pPr>
            <a:endParaRPr sz="8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3" name="Google Shape;883;p91">
            <a:extLst>
              <a:ext uri="{FF2B5EF4-FFF2-40B4-BE49-F238E27FC236}">
                <a16:creationId xmlns:a16="http://schemas.microsoft.com/office/drawing/2014/main" id="{2FDA7F64-76DE-6428-007B-88330B99488D}"/>
              </a:ext>
            </a:extLst>
          </p:cNvPr>
          <p:cNvSpPr txBox="1"/>
          <p:nvPr/>
        </p:nvSpPr>
        <p:spPr>
          <a:xfrm>
            <a:off x="134011" y="1188802"/>
            <a:ext cx="3851466" cy="2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Compétences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                                                                                                                            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85" name="Google Shape;885;p91">
            <a:extLst>
              <a:ext uri="{FF2B5EF4-FFF2-40B4-BE49-F238E27FC236}">
                <a16:creationId xmlns:a16="http://schemas.microsoft.com/office/drawing/2014/main" id="{6D45ECEE-73FB-7E87-2AC2-B5229EF62197}"/>
              </a:ext>
            </a:extLst>
          </p:cNvPr>
          <p:cNvSpPr txBox="1"/>
          <p:nvPr/>
        </p:nvSpPr>
        <p:spPr>
          <a:xfrm>
            <a:off x="134011" y="2570363"/>
            <a:ext cx="4200771" cy="224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Réalisations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&amp;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Références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87" name="Google Shape;887;p91">
            <a:extLst>
              <a:ext uri="{FF2B5EF4-FFF2-40B4-BE49-F238E27FC236}">
                <a16:creationId xmlns:a16="http://schemas.microsoft.com/office/drawing/2014/main" id="{F05C4E19-F979-09C7-8840-72F2C08EB011}"/>
              </a:ext>
            </a:extLst>
          </p:cNvPr>
          <p:cNvSpPr txBox="1"/>
          <p:nvPr/>
        </p:nvSpPr>
        <p:spPr>
          <a:xfrm>
            <a:off x="110444" y="2812058"/>
            <a:ext cx="4200769" cy="1913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63499" algn="just" defTabSz="914378">
              <a:buSzPts val="600"/>
            </a:pPr>
            <a:r>
              <a:rPr lang="fr-FR" sz="800" b="1" dirty="0">
                <a:latin typeface="Montserrat"/>
              </a:rPr>
              <a:t>Attijari Bank Tunisie | Digitalisation des processus de crédits </a:t>
            </a:r>
            <a:r>
              <a:rPr lang="fr-FR" sz="800" b="1" dirty="0" err="1">
                <a:latin typeface="Montserrat"/>
              </a:rPr>
              <a:t>Corporate</a:t>
            </a:r>
            <a:r>
              <a:rPr lang="fr-FR" sz="800" b="1" dirty="0">
                <a:latin typeface="Montserrat"/>
              </a:rPr>
              <a:t> :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Analyse et cadrage fonctionnel des processus d’instruction, validation, décision et gestion des garanties crédit </a:t>
            </a:r>
            <a:r>
              <a:rPr lang="fr-FR" sz="800" dirty="0" err="1">
                <a:latin typeface="Montserrat"/>
              </a:rPr>
              <a:t>Corporate</a:t>
            </a:r>
            <a:r>
              <a:rPr lang="fr-FR" sz="800" dirty="0">
                <a:latin typeface="Montserrat"/>
              </a:rPr>
              <a:t>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Animation des ateliers métiers et analyse des besoins fonctionnels.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Rédaction des spécifications fonctionnelles détaillées (SFD), règles de gestion et exigences fonctionnelles.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Formalisation des besoins sous forme d’Epics, User Stories et critères d’acceptation en environnement Agile Scrum.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Modélisation des processus métiers, workflows décisionnels et circuits de validation (BPMN).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Contribution à la gestion et priorisation du Product </a:t>
            </a:r>
            <a:r>
              <a:rPr lang="fr-FR" sz="800" dirty="0" err="1">
                <a:latin typeface="Montserrat"/>
              </a:rPr>
              <a:t>Backlog</a:t>
            </a:r>
            <a:r>
              <a:rPr lang="fr-FR" sz="800" dirty="0">
                <a:latin typeface="Montserrat"/>
              </a:rPr>
              <a:t>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Accompagnement des équipes de développement dans la mise en œuvre des solutions.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Élaboration des stratégies de recette, cahiers de tests et scénarios fonctionnels.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Exécution des recettes fonctionnelles (SIT/UAT), suivi des anomalies et validation des livrables. </a:t>
            </a:r>
          </a:p>
          <a:p>
            <a:br>
              <a:rPr lang="fr-FR" sz="750" dirty="0"/>
            </a:br>
            <a:endParaRPr lang="fr-FR" sz="750" dirty="0"/>
          </a:p>
          <a:p>
            <a:pPr marL="444489" lvl="8" indent="-82548" defTabSz="914378">
              <a:buSzPts val="500"/>
              <a:buFont typeface="Montserrat"/>
              <a:buChar char="-"/>
            </a:pPr>
            <a:endParaRPr sz="1100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2A15EC95-F466-ECEB-DE68-E3BD91B809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265641" y="-2697"/>
            <a:ext cx="1198106" cy="1051800"/>
          </a:xfrm>
          <a:prstGeom prst="ellipse">
            <a:avLst/>
          </a:prstGeom>
        </p:spPr>
      </p:pic>
      <p:pic>
        <p:nvPicPr>
          <p:cNvPr id="9" name="Picture 8" descr="BNP Paribas APM | Secure Bank Transfers via BNP Paribas (Poland) | Nuvei">
            <a:extLst>
              <a:ext uri="{FF2B5EF4-FFF2-40B4-BE49-F238E27FC236}">
                <a16:creationId xmlns:a16="http://schemas.microsoft.com/office/drawing/2014/main" id="{31D844EB-1213-51E4-168A-C35FE5FAC7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15" t="18070" r="9473" b="17869"/>
          <a:stretch>
            <a:fillRect/>
          </a:stretch>
        </p:blipFill>
        <p:spPr>
          <a:xfrm>
            <a:off x="5397451" y="1131194"/>
            <a:ext cx="956167" cy="464925"/>
          </a:xfrm>
          <a:prstGeom prst="rect">
            <a:avLst/>
          </a:prstGeom>
        </p:spPr>
      </p:pic>
      <p:pic>
        <p:nvPicPr>
          <p:cNvPr id="11" name="Google Shape;899;p91">
            <a:extLst>
              <a:ext uri="{FF2B5EF4-FFF2-40B4-BE49-F238E27FC236}">
                <a16:creationId xmlns:a16="http://schemas.microsoft.com/office/drawing/2014/main" id="{5C09DBA2-1B50-1880-19A2-A132262DC376}"/>
              </a:ext>
            </a:extLst>
          </p:cNvPr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2618" y="1249398"/>
            <a:ext cx="1098496" cy="2474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 descr="BMCI Groupe BNP Paribas">
            <a:extLst>
              <a:ext uri="{FF2B5EF4-FFF2-40B4-BE49-F238E27FC236}">
                <a16:creationId xmlns:a16="http://schemas.microsoft.com/office/drawing/2014/main" id="{3AC2A943-C18C-CDED-2A1D-86F5378644D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4731" b="19549"/>
          <a:stretch>
            <a:fillRect/>
          </a:stretch>
        </p:blipFill>
        <p:spPr>
          <a:xfrm>
            <a:off x="6523865" y="1065467"/>
            <a:ext cx="1108647" cy="617743"/>
          </a:xfrm>
          <a:prstGeom prst="rect">
            <a:avLst/>
          </a:prstGeom>
        </p:spPr>
      </p:pic>
      <p:pic>
        <p:nvPicPr>
          <p:cNvPr id="15" name="Picture 14" descr="UBCI | Nous connaitre">
            <a:extLst>
              <a:ext uri="{FF2B5EF4-FFF2-40B4-BE49-F238E27FC236}">
                <a16:creationId xmlns:a16="http://schemas.microsoft.com/office/drawing/2014/main" id="{BE5555BB-11F5-F0E8-34B2-7C2C920BB0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0400" y="1249398"/>
            <a:ext cx="929493" cy="279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599618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87;p91">
            <a:extLst>
              <a:ext uri="{FF2B5EF4-FFF2-40B4-BE49-F238E27FC236}">
                <a16:creationId xmlns:a16="http://schemas.microsoft.com/office/drawing/2014/main" id="{75E7FD45-5803-00D2-219B-FF2A18F0FF14}"/>
              </a:ext>
            </a:extLst>
          </p:cNvPr>
          <p:cNvSpPr txBox="1"/>
          <p:nvPr/>
        </p:nvSpPr>
        <p:spPr>
          <a:xfrm>
            <a:off x="238561" y="1946438"/>
            <a:ext cx="3936530" cy="1913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63499" algn="just" defTabSz="914378">
              <a:buSzPts val="600"/>
            </a:pPr>
            <a:r>
              <a:rPr lang="fr-FR" sz="800" b="1" dirty="0">
                <a:latin typeface="Montserrat"/>
              </a:rPr>
              <a:t>BNP Paribas – DOM-TOM &amp; UEMOA (6 filiales) | Automatisation des processus d’octroi de crédits :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Mise en place d’une solution d’automatisation des processus d’octroi de crédits aux particuliers, professionnels et entreprises.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Analyse des processus existants et définition des besoins fonctionnels.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Rédaction des spécifications fonctionnelles générales et détaillées.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Conception des workflows crédit et règles de gestion.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Contribution au remplacement iso-fonctionnel de la solution APCX.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Préparation des plans de tests et accompagnement des phases de recette.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Assistance au déploiement des solutions auprès des différentes filiales. </a:t>
            </a:r>
          </a:p>
          <a:p>
            <a:pPr marL="63499" algn="just" defTabSz="914378">
              <a:buSzPts val="600"/>
            </a:pPr>
            <a:br>
              <a:rPr lang="fr-FR" sz="800" dirty="0">
                <a:latin typeface="Montserrat"/>
              </a:rPr>
            </a:br>
            <a:endParaRPr lang="fr-FR" sz="800" dirty="0">
              <a:latin typeface="Montserrat"/>
            </a:endParaRPr>
          </a:p>
          <a:p>
            <a:pPr marL="63499" algn="just" defTabSz="914378">
              <a:buSzPts val="600"/>
            </a:pPr>
            <a:r>
              <a:rPr lang="fr-FR" sz="800" b="1" dirty="0">
                <a:latin typeface="Montserrat"/>
              </a:rPr>
              <a:t>UBCI (Tunisie) | Automatisation des processus d’octroi de crédits :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Mise en place d’une solution de digitalisation des processus de crédits aux particuliers, professionnels et entreprises.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Analyse des besoins métiers et participation aux ateliers de cadrage.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Rédaction des spécifications fonctionnelles.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Paramétrage et configuration métier de la solution.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Élaboration des scénarios de tests et validation des livrables.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Assistance aux utilisateurs lors des phases de recette et de mise en production. </a:t>
            </a:r>
          </a:p>
          <a:p>
            <a:pPr marL="63499" algn="just" defTabSz="914378">
              <a:buSzPts val="600"/>
            </a:pPr>
            <a:br>
              <a:rPr lang="fr-FR" sz="800" dirty="0">
                <a:latin typeface="Montserrat"/>
              </a:rPr>
            </a:br>
            <a:endParaRPr lang="fr-FR" sz="800" dirty="0">
              <a:latin typeface="Montserrat"/>
            </a:endParaRPr>
          </a:p>
          <a:p>
            <a:pPr marL="444489" lvl="8" indent="-82548" defTabSz="914378">
              <a:buSzPts val="500"/>
              <a:buFont typeface="Montserrat"/>
              <a:buChar char="-"/>
            </a:pPr>
            <a:endParaRPr sz="11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856CE3F-5B02-8F7E-C625-6F3B45A47E98}"/>
              </a:ext>
            </a:extLst>
          </p:cNvPr>
          <p:cNvSpPr txBox="1"/>
          <p:nvPr/>
        </p:nvSpPr>
        <p:spPr>
          <a:xfrm>
            <a:off x="4386106" y="1946438"/>
            <a:ext cx="457262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499" algn="just" defTabSz="914378">
              <a:buSzPts val="600"/>
            </a:pPr>
            <a:r>
              <a:rPr lang="fr-FR" sz="800" b="1" dirty="0">
                <a:latin typeface="Montserrat"/>
              </a:rPr>
              <a:t>BEAC – Zone CEMAC | Mise en place d’une Centrale des Incidents de Paiement (CIP) :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Mise en place d’un système de place déployé auprès de plus de 50 établissements bancaires des six pays de la zone CEMAC.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Analyse et formalisation des besoins fonctionnels de la Centrale des Incidents de Paiement.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Constitution d’un fichier central des comptes et clients bancaires de la zone.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Fiabilisation des données d’état civil via l’intégration d’une solution d’identification biométrique IDEMIA.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Participation aux phases de conception, tests et validation fonctionnelle. </a:t>
            </a:r>
          </a:p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lang="fr-FR" sz="800" dirty="0">
                <a:latin typeface="Montserrat"/>
              </a:rPr>
              <a:t>Accompagnement des banques participantes dans le déploiement de la solution.</a:t>
            </a:r>
          </a:p>
        </p:txBody>
      </p:sp>
      <p:sp>
        <p:nvSpPr>
          <p:cNvPr id="10" name="Google Shape;868;p91">
            <a:extLst>
              <a:ext uri="{FF2B5EF4-FFF2-40B4-BE49-F238E27FC236}">
                <a16:creationId xmlns:a16="http://schemas.microsoft.com/office/drawing/2014/main" id="{5EE19B54-28D4-913F-4DE6-32AFED007C46}"/>
              </a:ext>
            </a:extLst>
          </p:cNvPr>
          <p:cNvSpPr/>
          <p:nvPr/>
        </p:nvSpPr>
        <p:spPr>
          <a:xfrm>
            <a:off x="0" y="0"/>
            <a:ext cx="9144000" cy="1051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" name="Google Shape;869;p91">
            <a:extLst>
              <a:ext uri="{FF2B5EF4-FFF2-40B4-BE49-F238E27FC236}">
                <a16:creationId xmlns:a16="http://schemas.microsoft.com/office/drawing/2014/main" id="{1D2C9E3B-6CFA-9A6C-2438-DCFDAEFBACD8}"/>
              </a:ext>
            </a:extLst>
          </p:cNvPr>
          <p:cNvSpPr txBox="1">
            <a:spLocks/>
          </p:cNvSpPr>
          <p:nvPr/>
        </p:nvSpPr>
        <p:spPr>
          <a:xfrm>
            <a:off x="1613874" y="154850"/>
            <a:ext cx="200353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buClr>
                <a:schemeClr val="dk2"/>
              </a:buClr>
              <a:buSzPts val="1200"/>
              <a:buFont typeface="Montserrat"/>
              <a:buNone/>
            </a:pPr>
            <a:r>
              <a:rPr lang="en-GB" sz="1200" b="1">
                <a:solidFill>
                  <a:schemeClr val="lt2"/>
                </a:solidFill>
              </a:rPr>
              <a:t>Habiba Cyrine BELHADJ</a:t>
            </a:r>
            <a:endParaRPr lang="en-GB" sz="1200" b="1" dirty="0">
              <a:solidFill>
                <a:schemeClr val="lt2"/>
              </a:solidFill>
            </a:endParaRPr>
          </a:p>
        </p:txBody>
      </p:sp>
      <p:sp>
        <p:nvSpPr>
          <p:cNvPr id="15" name="Google Shape;877;p91">
            <a:extLst>
              <a:ext uri="{FF2B5EF4-FFF2-40B4-BE49-F238E27FC236}">
                <a16:creationId xmlns:a16="http://schemas.microsoft.com/office/drawing/2014/main" id="{46B8542A-36C5-3E7D-9D43-8569E6C1B522}"/>
              </a:ext>
            </a:extLst>
          </p:cNvPr>
          <p:cNvSpPr txBox="1">
            <a:spLocks/>
          </p:cNvSpPr>
          <p:nvPr/>
        </p:nvSpPr>
        <p:spPr>
          <a:xfrm>
            <a:off x="1613875" y="444175"/>
            <a:ext cx="1747800" cy="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1200"/>
              </a:spcAft>
              <a:buClr>
                <a:schemeClr val="dk1"/>
              </a:buClr>
              <a:buSzPts val="800"/>
              <a:buFont typeface="Montserrat"/>
              <a:buNone/>
            </a:pPr>
            <a:r>
              <a:rPr lang="en-GB" sz="900" b="1">
                <a:solidFill>
                  <a:schemeClr val="dk1"/>
                </a:solidFill>
              </a:rPr>
              <a:t>Senior Transformation Consultant</a:t>
            </a:r>
            <a:endParaRPr lang="en-GB" sz="900" b="1" dirty="0">
              <a:solidFill>
                <a:schemeClr val="dk1"/>
              </a:solidFill>
            </a:endParaRPr>
          </a:p>
        </p:txBody>
      </p:sp>
      <p:pic>
        <p:nvPicPr>
          <p:cNvPr id="16" name="Picture 6">
            <a:extLst>
              <a:ext uri="{FF2B5EF4-FFF2-40B4-BE49-F238E27FC236}">
                <a16:creationId xmlns:a16="http://schemas.microsoft.com/office/drawing/2014/main" id="{AED1ACC7-73C0-F198-5A26-D9F1E9DF241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265641" y="-2697"/>
            <a:ext cx="1198106" cy="1051800"/>
          </a:xfrm>
          <a:prstGeom prst="ellipse">
            <a:avLst/>
          </a:prstGeom>
        </p:spPr>
      </p:pic>
      <p:pic>
        <p:nvPicPr>
          <p:cNvPr id="18" name="Picture 17" descr="BNP Paribas APM | Secure Bank Transfers via BNP Paribas (Poland) | Nuvei">
            <a:extLst>
              <a:ext uri="{FF2B5EF4-FFF2-40B4-BE49-F238E27FC236}">
                <a16:creationId xmlns:a16="http://schemas.microsoft.com/office/drawing/2014/main" id="{CA14C6B4-5380-4FE3-15CA-75490A2776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215" t="18070" r="9473" b="17869"/>
          <a:stretch>
            <a:fillRect/>
          </a:stretch>
        </p:blipFill>
        <p:spPr>
          <a:xfrm>
            <a:off x="5397451" y="1131194"/>
            <a:ext cx="956167" cy="464925"/>
          </a:xfrm>
          <a:prstGeom prst="rect">
            <a:avLst/>
          </a:prstGeom>
        </p:spPr>
      </p:pic>
      <p:pic>
        <p:nvPicPr>
          <p:cNvPr id="20" name="Google Shape;899;p91">
            <a:extLst>
              <a:ext uri="{FF2B5EF4-FFF2-40B4-BE49-F238E27FC236}">
                <a16:creationId xmlns:a16="http://schemas.microsoft.com/office/drawing/2014/main" id="{60E9E407-A7A1-FAEC-0D77-C01E7089B582}"/>
              </a:ext>
            </a:extLst>
          </p:cNvPr>
          <p:cNvPicPr preferRelativeResize="0"/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2618" y="1249398"/>
            <a:ext cx="1098496" cy="2474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Picture 21" descr="BMCI Groupe BNP Paribas">
            <a:extLst>
              <a:ext uri="{FF2B5EF4-FFF2-40B4-BE49-F238E27FC236}">
                <a16:creationId xmlns:a16="http://schemas.microsoft.com/office/drawing/2014/main" id="{758FFA84-6019-AA42-10EB-BEA554BEF4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731" b="19549"/>
          <a:stretch>
            <a:fillRect/>
          </a:stretch>
        </p:blipFill>
        <p:spPr>
          <a:xfrm>
            <a:off x="6523865" y="1065467"/>
            <a:ext cx="1108647" cy="617743"/>
          </a:xfrm>
          <a:prstGeom prst="rect">
            <a:avLst/>
          </a:prstGeom>
        </p:spPr>
      </p:pic>
      <p:pic>
        <p:nvPicPr>
          <p:cNvPr id="24" name="Picture 23" descr="UBCI | Nous connaitre">
            <a:extLst>
              <a:ext uri="{FF2B5EF4-FFF2-40B4-BE49-F238E27FC236}">
                <a16:creationId xmlns:a16="http://schemas.microsoft.com/office/drawing/2014/main" id="{E720C7A7-E968-70D6-0015-59606F9F01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400" y="1249398"/>
            <a:ext cx="929493" cy="279603"/>
          </a:xfrm>
          <a:prstGeom prst="rect">
            <a:avLst/>
          </a:prstGeom>
        </p:spPr>
      </p:pic>
      <p:sp>
        <p:nvSpPr>
          <p:cNvPr id="26" name="Google Shape;885;p91">
            <a:extLst>
              <a:ext uri="{FF2B5EF4-FFF2-40B4-BE49-F238E27FC236}">
                <a16:creationId xmlns:a16="http://schemas.microsoft.com/office/drawing/2014/main" id="{339EE12A-2666-5232-B00C-CC23BD4243E8}"/>
              </a:ext>
            </a:extLst>
          </p:cNvPr>
          <p:cNvSpPr txBox="1"/>
          <p:nvPr/>
        </p:nvSpPr>
        <p:spPr>
          <a:xfrm>
            <a:off x="134011" y="1649191"/>
            <a:ext cx="4200771" cy="224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Réalisations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&amp;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Références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04878210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3C3C3A"/>
      </a:dk1>
      <a:lt1>
        <a:srgbClr val="FFFFFF"/>
      </a:lt1>
      <a:dk2>
        <a:srgbClr val="3C3C3A"/>
      </a:dk2>
      <a:lt2>
        <a:srgbClr val="F8485E"/>
      </a:lt2>
      <a:accent1>
        <a:srgbClr val="F8485E"/>
      </a:accent1>
      <a:accent2>
        <a:srgbClr val="FCA2AE"/>
      </a:accent2>
      <a:accent3>
        <a:srgbClr val="FDDADE"/>
      </a:accent3>
      <a:accent4>
        <a:srgbClr val="D7EBE7"/>
      </a:accent4>
      <a:accent5>
        <a:srgbClr val="EFEADC"/>
      </a:accent5>
      <a:accent6>
        <a:srgbClr val="EFEEEE"/>
      </a:accent6>
      <a:hlink>
        <a:srgbClr val="F8485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1857</TotalTime>
  <Words>744</Words>
  <Application>Microsoft Office PowerPoint</Application>
  <PresentationFormat>Affichage à l'écran (16:9)</PresentationFormat>
  <Paragraphs>68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</vt:i4>
      </vt:variant>
    </vt:vector>
  </HeadingPairs>
  <TitlesOfParts>
    <vt:vector size="11" baseType="lpstr">
      <vt:lpstr>Montserrat Medium</vt:lpstr>
      <vt:lpstr>Montserrat Light</vt:lpstr>
      <vt:lpstr>Verdana</vt:lpstr>
      <vt:lpstr>Arial</vt:lpstr>
      <vt:lpstr>Montserrat</vt:lpstr>
      <vt:lpstr>Montserrat SemiBold</vt:lpstr>
      <vt:lpstr>Century Gothic</vt:lpstr>
      <vt:lpstr>Simple Light</vt:lpstr>
      <vt:lpstr>Simple Light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Mohamed BEN AYED</dc:creator>
  <cp:lastModifiedBy>Fatèn TAGHOUTI</cp:lastModifiedBy>
  <cp:revision>127</cp:revision>
  <dcterms:modified xsi:type="dcterms:W3CDTF">2026-08-11T12:54:42Z</dcterms:modified>
</cp:coreProperties>
</file>
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4" r:id="rId1"/>
    <p:sldMasterId id="2147483715" r:id="rId2"/>
  </p:sldMasterIdLst>
  <p:notesMasterIdLst>
    <p:notesMasterId r:id="rId5"/>
  </p:notesMasterIdLst>
  <p:sldIdLst>
    <p:sldId id="307" r:id="rId3"/>
    <p:sldId id="308" r:id="rId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6"/>
      <p:bold r:id="rId7"/>
      <p:italic r:id="rId8"/>
      <p:boldItalic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Light" panose="00000400000000000000" pitchFamily="2" charset="0"/>
      <p:regular r:id="rId14"/>
      <p:bold r:id="rId15"/>
      <p:italic r:id="rId16"/>
      <p:boldItalic r:id="rId17"/>
    </p:embeddedFont>
    <p:embeddedFont>
      <p:font typeface="Montserrat Medium" panose="00000600000000000000" pitchFamily="2" charset="0"/>
      <p:regular r:id="rId18"/>
      <p:bold r:id="rId19"/>
      <p:italic r:id="rId20"/>
      <p:boldItalic r:id="rId21"/>
    </p:embeddedFont>
    <p:embeddedFont>
      <p:font typeface="Montserrat SemiBold" panose="00000700000000000000" pitchFamily="2" charset="0"/>
      <p:regular r:id="rId22"/>
      <p:bold r:id="rId23"/>
      <p:italic r:id="rId24"/>
      <p:boldItalic r:id="rId25"/>
    </p:embeddedFont>
    <p:embeddedFont>
      <p:font typeface="Verdana" panose="020B060403050404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96" autoAdjust="0"/>
  </p:normalViewPr>
  <p:slideViewPr>
    <p:cSldViewPr snapToGrid="0">
      <p:cViewPr varScale="1">
        <p:scale>
          <a:sx n="67" d="100"/>
          <a:sy n="67" d="100"/>
        </p:scale>
        <p:origin x="898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font" Target="fonts/font8.fntdata"/><Relationship Id="rId14" Type="http://schemas.openxmlformats.org/officeDocument/2006/relationships/font" Target="fonts/font9.fntdata"/><Relationship Id="rId15" Type="http://schemas.openxmlformats.org/officeDocument/2006/relationships/font" Target="fonts/font10.fntdata"/><Relationship Id="rId16" Type="http://schemas.openxmlformats.org/officeDocument/2006/relationships/font" Target="fonts/font11.fntdata"/><Relationship Id="rId17" Type="http://schemas.openxmlformats.org/officeDocument/2006/relationships/font" Target="fonts/font12.fntdata"/><Relationship Id="rId18" Type="http://schemas.openxmlformats.org/officeDocument/2006/relationships/font" Target="fonts/font13.fntdata"/><Relationship Id="rId19" Type="http://schemas.openxmlformats.org/officeDocument/2006/relationships/font" Target="fonts/font14.fntdata"/><Relationship Id="rId20" Type="http://schemas.openxmlformats.org/officeDocument/2006/relationships/font" Target="fonts/font15.fntdata"/><Relationship Id="rId21" Type="http://schemas.openxmlformats.org/officeDocument/2006/relationships/font" Target="fonts/font16.fntdata"/><Relationship Id="rId22" Type="http://schemas.openxmlformats.org/officeDocument/2006/relationships/font" Target="fonts/font17.fntdata"/><Relationship Id="rId23" Type="http://schemas.openxmlformats.org/officeDocument/2006/relationships/font" Target="fonts/font18.fntdata"/><Relationship Id="rId24" Type="http://schemas.openxmlformats.org/officeDocument/2006/relationships/font" Target="fonts/font19.fntdata"/><Relationship Id="rId25" Type="http://schemas.openxmlformats.org/officeDocument/2006/relationships/font" Target="fonts/font20.fntdata"/><Relationship Id="rId26" Type="http://schemas.openxmlformats.org/officeDocument/2006/relationships/font" Target="fonts/font21.fntdata"/><Relationship Id="rId27" Type="http://schemas.openxmlformats.org/officeDocument/2006/relationships/font" Target="fonts/font22.fntdata"/><Relationship Id="rId28" Type="http://schemas.openxmlformats.org/officeDocument/2006/relationships/font" Target="fonts/font23.fntdata"/><Relationship Id="rId29" Type="http://schemas.openxmlformats.org/officeDocument/2006/relationships/font" Target="fonts/font24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924A6FFB-6134-EF9E-6A7E-C50325386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f517f0088e_2_695:notes">
            <a:extLst>
              <a:ext uri="{FF2B5EF4-FFF2-40B4-BE49-F238E27FC236}">
                <a16:creationId xmlns:a16="http://schemas.microsoft.com/office/drawing/2014/main" id="{DAD1A018-DF5F-ECE4-5E64-5D72F1832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6" name="Google Shape;866;g3f517f0088e_2_695:notes">
            <a:extLst>
              <a:ext uri="{FF2B5EF4-FFF2-40B4-BE49-F238E27FC236}">
                <a16:creationId xmlns:a16="http://schemas.microsoft.com/office/drawing/2014/main" id="{1C3BA472-989D-3C5B-BC1A-C377FF693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79336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emplate - keep it empty">
  <p:cSld name="Blank template - keep it empt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sldNum" idx="12"/>
          </p:nvPr>
        </p:nvSpPr>
        <p:spPr>
          <a:xfrm>
            <a:off x="8556775" y="4861575"/>
            <a:ext cx="587100" cy="1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4) Content - One title and extra long text">
  <p:cSld name="44) Content - One title and extra long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>
            <a:spLocks noGrp="1"/>
          </p:cNvSpPr>
          <p:nvPr>
            <p:ph type="subTitle" idx="1"/>
          </p:nvPr>
        </p:nvSpPr>
        <p:spPr>
          <a:xfrm>
            <a:off x="587225" y="1165925"/>
            <a:ext cx="3324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"/>
              <a:buNone/>
              <a:defRPr sz="1000" b="1">
                <a:solidFill>
                  <a:srgbClr val="3C3C3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body" idx="2"/>
          </p:nvPr>
        </p:nvSpPr>
        <p:spPr>
          <a:xfrm>
            <a:off x="587225" y="1506375"/>
            <a:ext cx="7885200" cy="29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title"/>
          </p:nvPr>
        </p:nvSpPr>
        <p:spPr>
          <a:xfrm>
            <a:off x="587225" y="572700"/>
            <a:ext cx="54975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pic>
        <p:nvPicPr>
          <p:cNvPr id="105" name="Google Shape;105;p2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blank">
  <p:cSld name="BLANK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pic>
        <p:nvPicPr>
          <p:cNvPr id="114" name="Google Shape;114;p2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17" name="Google Shape;117;p2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) Empty">
  <p:cSld name="1) Empt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Blank White template">
  <p:cSld name="16_Blank White templat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>
            <a:spLocks noGrp="1"/>
          </p:cNvSpPr>
          <p:nvPr>
            <p:ph type="sldNum" idx="12"/>
          </p:nvPr>
        </p:nvSpPr>
        <p:spPr>
          <a:xfrm>
            <a:off x="6695471" y="4718888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title"/>
          </p:nvPr>
        </p:nvSpPr>
        <p:spPr>
          <a:xfrm>
            <a:off x="391130" y="330362"/>
            <a:ext cx="8361675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body" idx="1"/>
          </p:nvPr>
        </p:nvSpPr>
        <p:spPr>
          <a:xfrm>
            <a:off x="391129" y="939998"/>
            <a:ext cx="8361675" cy="1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pic>
        <p:nvPicPr>
          <p:cNvPr id="124" name="Google Shape;124;p2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8" name="Google Shape;128;p2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00" b="0" i="0">
                <a:solidFill>
                  <a:srgbClr val="3B3B3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body" idx="1"/>
          </p:nvPr>
        </p:nvSpPr>
        <p:spPr>
          <a:xfrm>
            <a:off x="706450" y="1262075"/>
            <a:ext cx="4556100" cy="20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900" b="0" i="0">
                <a:solidFill>
                  <a:srgbClr val="55545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4" name="Google Shape;134;p2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9"/>
          <p:cNvSpPr txBox="1"/>
          <p:nvPr/>
        </p:nvSpPr>
        <p:spPr>
          <a:xfrm>
            <a:off x="4984500" y="4923200"/>
            <a:ext cx="4038600" cy="1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fld id="{00000000-1234-1234-1234-123412341234}" type="slidenum">
              <a:rPr lang="en-GB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) Divider - Title left double pink dots">
  <p:cSld name="10) Divider - Title left double pink dot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>
            <a:spLocks noGrp="1"/>
          </p:cNvSpPr>
          <p:nvPr>
            <p:ph type="body" idx="1"/>
          </p:nvPr>
        </p:nvSpPr>
        <p:spPr>
          <a:xfrm>
            <a:off x="5795700" y="1362925"/>
            <a:ext cx="2761200" cy="21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title"/>
          </p:nvPr>
        </p:nvSpPr>
        <p:spPr>
          <a:xfrm>
            <a:off x="1080003" y="1800450"/>
            <a:ext cx="3387600" cy="15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2200"/>
              <a:buFont typeface="Montserrat Light"/>
              <a:buNone/>
              <a:defRPr sz="42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39" name="Google Shape;139;p3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655500"/>
            <a:ext cx="591600" cy="14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0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</a:pPr>
            <a:fld id="{00000000-1234-1234-1234-123412341234}" type="slidenum">
              <a:rPr lang="en-GB" sz="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‹N°›</a:t>
            </a:fld>
            <a:endParaRPr sz="800" b="0" i="0" u="none" strike="noStrike" cap="non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4) Thank you">
  <p:cSld name="64) Thank you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-25"/>
            <a:ext cx="8817430" cy="495980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</p:pic>
      <p:pic>
        <p:nvPicPr>
          <p:cNvPr id="144" name="Google Shape;144;p3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7225" y="553501"/>
            <a:ext cx="1115848" cy="33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1"/>
          <p:cNvSpPr txBox="1"/>
          <p:nvPr/>
        </p:nvSpPr>
        <p:spPr>
          <a:xfrm>
            <a:off x="1080000" y="2073000"/>
            <a:ext cx="69837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lang="en-GB" sz="7100" b="0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Thank</a:t>
            </a:r>
            <a:r>
              <a:rPr lang="en-GB" sz="7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you.</a:t>
            </a:r>
            <a:endParaRPr sz="71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) Content - Display other material 1">
  <p:cSld name="45) Content - Display other material 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177" r="70151"/>
          <a:stretch/>
        </p:blipFill>
        <p:spPr>
          <a:xfrm rot="5400000" flipH="1">
            <a:off x="7276726" y="-905925"/>
            <a:ext cx="999449" cy="277320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ontserrat"/>
              <a:buNone/>
            </a:pPr>
            <a:fld id="{00000000-1234-1234-1234-123412341234}" type="slidenum">
              <a:rPr lang="en-GB" sz="10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1000" b="1" i="0" u="none" strike="noStrike" cap="non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32"/>
          <p:cNvSpPr txBox="1">
            <a:spLocks noGrp="1"/>
          </p:cNvSpPr>
          <p:nvPr>
            <p:ph type="title"/>
          </p:nvPr>
        </p:nvSpPr>
        <p:spPr>
          <a:xfrm>
            <a:off x="587225" y="607050"/>
            <a:ext cx="48216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1">
                <a:solidFill>
                  <a:srgbClr val="9C6E0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4"/>
          <p:cNvSpPr txBox="1">
            <a:spLocks noGrp="1"/>
          </p:cNvSpPr>
          <p:nvPr>
            <p:ph type="sldNum" idx="12"/>
          </p:nvPr>
        </p:nvSpPr>
        <p:spPr>
          <a:xfrm>
            <a:off x="6922240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67" name="Google Shape;167;p34"/>
          <p:cNvSpPr txBox="1">
            <a:spLocks noGrp="1"/>
          </p:cNvSpPr>
          <p:nvPr>
            <p:ph type="dt" idx="10"/>
          </p:nvPr>
        </p:nvSpPr>
        <p:spPr>
          <a:xfrm>
            <a:off x="292261" y="4856789"/>
            <a:ext cx="2103000" cy="107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1">
                <a:solidFill>
                  <a:srgbClr val="9C6E0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5"/>
          <p:cNvSpPr txBox="1">
            <a:spLocks noGrp="1"/>
          </p:cNvSpPr>
          <p:nvPr>
            <p:ph type="sldNum" idx="12"/>
          </p:nvPr>
        </p:nvSpPr>
        <p:spPr>
          <a:xfrm>
            <a:off x="6922240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71" name="Google Shape;171;p35"/>
          <p:cNvSpPr txBox="1">
            <a:spLocks noGrp="1"/>
          </p:cNvSpPr>
          <p:nvPr>
            <p:ph type="dt" idx="10"/>
          </p:nvPr>
        </p:nvSpPr>
        <p:spPr>
          <a:xfrm>
            <a:off x="292261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mpaign summary">
  <p:cSld name="Campaign summary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6"/>
          <p:cNvSpPr txBox="1">
            <a:spLocks noGrp="1"/>
          </p:cNvSpPr>
          <p:nvPr>
            <p:ph type="body" idx="1"/>
          </p:nvPr>
        </p:nvSpPr>
        <p:spPr>
          <a:xfrm>
            <a:off x="540000" y="1080000"/>
            <a:ext cx="61563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74" name="Google Shape;174;p36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36"/>
          <p:cNvSpPr txBox="1">
            <a:spLocks noGrp="1"/>
          </p:cNvSpPr>
          <p:nvPr>
            <p:ph type="subTitle" idx="2"/>
          </p:nvPr>
        </p:nvSpPr>
        <p:spPr>
          <a:xfrm>
            <a:off x="540000" y="648125"/>
            <a:ext cx="8064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176" name="Google Shape;176;p36"/>
          <p:cNvSpPr/>
          <p:nvPr/>
        </p:nvSpPr>
        <p:spPr>
          <a:xfrm>
            <a:off x="6896050" y="1079975"/>
            <a:ext cx="1708200" cy="346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77" name="Google Shape;177;p36"/>
          <p:cNvSpPr txBox="1">
            <a:spLocks noGrp="1"/>
          </p:cNvSpPr>
          <p:nvPr>
            <p:ph type="body" idx="3"/>
          </p:nvPr>
        </p:nvSpPr>
        <p:spPr>
          <a:xfrm>
            <a:off x="6984550" y="1465500"/>
            <a:ext cx="1531200" cy="29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78" name="Google Shape;178;p36"/>
          <p:cNvSpPr txBox="1">
            <a:spLocks noGrp="1"/>
          </p:cNvSpPr>
          <p:nvPr>
            <p:ph type="subTitle" idx="4"/>
          </p:nvPr>
        </p:nvSpPr>
        <p:spPr>
          <a:xfrm>
            <a:off x="6984550" y="1192950"/>
            <a:ext cx="1531200" cy="1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with Subtitle">
  <p:cSld name="Title Only with Subtitle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7"/>
          <p:cNvSpPr txBox="1">
            <a:spLocks noGrp="1"/>
          </p:cNvSpPr>
          <p:nvPr>
            <p:ph type="title"/>
          </p:nvPr>
        </p:nvSpPr>
        <p:spPr>
          <a:xfrm>
            <a:off x="337029" y="233533"/>
            <a:ext cx="8393700" cy="8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7"/>
          <p:cNvSpPr txBox="1">
            <a:spLocks noGrp="1"/>
          </p:cNvSpPr>
          <p:nvPr>
            <p:ph type="body" idx="1"/>
          </p:nvPr>
        </p:nvSpPr>
        <p:spPr>
          <a:xfrm>
            <a:off x="336130" y="631589"/>
            <a:ext cx="8396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  <a:defRPr sz="1500"/>
            </a:lvl1pPr>
            <a:lvl2pPr marL="914400" lvl="1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) Content - Display other material 1 1">
  <p:cSld name="45) Content - Display other material 1 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177" r="70151"/>
          <a:stretch/>
        </p:blipFill>
        <p:spPr>
          <a:xfrm rot="5400000" flipH="1">
            <a:off x="7276727" y="-905925"/>
            <a:ext cx="999451" cy="277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Montserrat"/>
              <a:buNone/>
            </a:pPr>
            <a:fld id="{00000000-1234-1234-1234-123412341234}" type="slidenum">
              <a:rPr lang="en-GB" sz="10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1000" b="1" i="0" u="none" strike="noStrike" cap="non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8"/>
          <p:cNvSpPr txBox="1">
            <a:spLocks noGrp="1"/>
          </p:cNvSpPr>
          <p:nvPr>
            <p:ph type="title"/>
          </p:nvPr>
        </p:nvSpPr>
        <p:spPr>
          <a:xfrm>
            <a:off x="587225" y="607050"/>
            <a:ext cx="482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, subheader, text">
  <p:cSld name="Header, subheader, tex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9"/>
          <p:cNvSpPr txBox="1">
            <a:spLocks noGrp="1"/>
          </p:cNvSpPr>
          <p:nvPr>
            <p:ph type="body" idx="1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88" name="Google Shape;188;p39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39"/>
          <p:cNvSpPr txBox="1">
            <a:spLocks noGrp="1"/>
          </p:cNvSpPr>
          <p:nvPr>
            <p:ph type="subTitle" idx="2"/>
          </p:nvPr>
        </p:nvSpPr>
        <p:spPr>
          <a:xfrm>
            <a:off x="540000" y="648125"/>
            <a:ext cx="8064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emplate - keep it empty 1">
  <p:cSld name="Blank template - keep it empty 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794" y="4853118"/>
            <a:ext cx="229569" cy="229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3122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Medium"/>
              <a:buNone/>
              <a:defRPr sz="11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6450" y="1262075"/>
            <a:ext cx="4556100" cy="20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720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14D968AC-0D9E-6E5B-5690-27A800760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91">
            <a:extLst>
              <a:ext uri="{FF2B5EF4-FFF2-40B4-BE49-F238E27FC236}">
                <a16:creationId xmlns:a16="http://schemas.microsoft.com/office/drawing/2014/main" id="{A24817D9-8F3A-4404-9889-2287793E4BF1}"/>
              </a:ext>
            </a:extLst>
          </p:cNvPr>
          <p:cNvSpPr/>
          <p:nvPr/>
        </p:nvSpPr>
        <p:spPr>
          <a:xfrm>
            <a:off x="0" y="0"/>
            <a:ext cx="9144000" cy="105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9" name="Google Shape;869;p91">
            <a:extLst>
              <a:ext uri="{FF2B5EF4-FFF2-40B4-BE49-F238E27FC236}">
                <a16:creationId xmlns:a16="http://schemas.microsoft.com/office/drawing/2014/main" id="{0DC2ECCA-800A-BD4F-4BA2-58740FDCD1E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13874" y="154850"/>
            <a:ext cx="200353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buClr>
                <a:schemeClr val="dk2"/>
              </a:buClr>
              <a:buSzPts val="1200"/>
              <a:buNone/>
            </a:pPr>
            <a:r>
              <a:rPr lang="en-GB" sz="1200" b="1" dirty="0">
                <a:solidFill>
                  <a:schemeClr val="lt2"/>
                </a:solidFill>
              </a:rPr>
              <a:t>Khadija Azzouz</a:t>
            </a:r>
            <a:endParaRPr sz="1200" b="1" dirty="0">
              <a:solidFill>
                <a:schemeClr val="lt2"/>
              </a:solidFill>
            </a:endParaRPr>
          </a:p>
        </p:txBody>
      </p:sp>
      <p:sp>
        <p:nvSpPr>
          <p:cNvPr id="870" name="Google Shape;870;p91">
            <a:extLst>
              <a:ext uri="{FF2B5EF4-FFF2-40B4-BE49-F238E27FC236}">
                <a16:creationId xmlns:a16="http://schemas.microsoft.com/office/drawing/2014/main" id="{2276CE7D-5B4D-6045-E0EB-C3AC08E9201F}"/>
              </a:ext>
            </a:extLst>
          </p:cNvPr>
          <p:cNvSpPr txBox="1"/>
          <p:nvPr/>
        </p:nvSpPr>
        <p:spPr>
          <a:xfrm>
            <a:off x="3615992" y="66731"/>
            <a:ext cx="5357100" cy="99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499" algn="just" defTabSz="914378">
              <a:buSzPts val="600"/>
            </a:pPr>
            <a:r>
              <a:rPr lang="fr-FR" sz="800" dirty="0">
                <a:latin typeface="Montserrat"/>
              </a:rPr>
              <a:t>IT Transformation and Digital Strategy Consultant with extensive experience leading complex transformation initiatives across the banking, insurance, public sector, telecommunications, and international development sectors.</a:t>
            </a:r>
            <a:endParaRPr sz="800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71" name="Google Shape;871;p91">
            <a:extLst>
              <a:ext uri="{FF2B5EF4-FFF2-40B4-BE49-F238E27FC236}">
                <a16:creationId xmlns:a16="http://schemas.microsoft.com/office/drawing/2014/main" id="{5D2FDB83-471C-D5F8-971A-72D4B1D6A61C}"/>
              </a:ext>
            </a:extLst>
          </p:cNvPr>
          <p:cNvCxnSpPr/>
          <p:nvPr/>
        </p:nvCxnSpPr>
        <p:spPr>
          <a:xfrm>
            <a:off x="3616697" y="154850"/>
            <a:ext cx="0" cy="686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2" name="Google Shape;872;p91">
            <a:extLst>
              <a:ext uri="{FF2B5EF4-FFF2-40B4-BE49-F238E27FC236}">
                <a16:creationId xmlns:a16="http://schemas.microsoft.com/office/drawing/2014/main" id="{B5A7B248-FF6E-6D0B-A4E7-8D5861EBD330}"/>
              </a:ext>
            </a:extLst>
          </p:cNvPr>
          <p:cNvSpPr/>
          <p:nvPr/>
        </p:nvSpPr>
        <p:spPr>
          <a:xfrm>
            <a:off x="1613875" y="860450"/>
            <a:ext cx="1648500" cy="290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r>
              <a:rPr lang="en-GB" sz="900" b="1" dirty="0">
                <a:solidFill>
                  <a:srgbClr val="EB475E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4" name="Google Shape;874;p91">
            <a:extLst>
              <a:ext uri="{FF2B5EF4-FFF2-40B4-BE49-F238E27FC236}">
                <a16:creationId xmlns:a16="http://schemas.microsoft.com/office/drawing/2014/main" id="{92BA0080-689C-BD8B-439C-BAC02A57C612}"/>
              </a:ext>
            </a:extLst>
          </p:cNvPr>
          <p:cNvSpPr txBox="1"/>
          <p:nvPr/>
        </p:nvSpPr>
        <p:spPr>
          <a:xfrm>
            <a:off x="131077" y="2140702"/>
            <a:ext cx="7909539" cy="15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Formation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77" name="Google Shape;877;p91">
            <a:extLst>
              <a:ext uri="{FF2B5EF4-FFF2-40B4-BE49-F238E27FC236}">
                <a16:creationId xmlns:a16="http://schemas.microsoft.com/office/drawing/2014/main" id="{8F57F1C4-1203-3ECB-B40D-FB8546B243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13875" y="444175"/>
            <a:ext cx="17478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spcAft>
                <a:spcPts val="1200"/>
              </a:spcAft>
              <a:buClr>
                <a:schemeClr val="dk1"/>
              </a:buClr>
              <a:buSzPts val="800"/>
              <a:buNone/>
            </a:pPr>
            <a:r>
              <a:rPr lang="en-GB" sz="900" b="1" dirty="0">
                <a:solidFill>
                  <a:schemeClr val="dk1"/>
                </a:solidFill>
              </a:rPr>
              <a:t>Senior Business Analyst, Digital Transformation Consultant</a:t>
            </a:r>
            <a:endParaRPr sz="900" b="1" dirty="0">
              <a:solidFill>
                <a:schemeClr val="dk1"/>
              </a:solidFill>
            </a:endParaRPr>
          </a:p>
        </p:txBody>
      </p:sp>
      <p:cxnSp>
        <p:nvCxnSpPr>
          <p:cNvPr id="878" name="Google Shape;878;p91">
            <a:extLst>
              <a:ext uri="{FF2B5EF4-FFF2-40B4-BE49-F238E27FC236}">
                <a16:creationId xmlns:a16="http://schemas.microsoft.com/office/drawing/2014/main" id="{BF457A0F-436C-C492-EB9D-B3920614B8DF}"/>
              </a:ext>
            </a:extLst>
          </p:cNvPr>
          <p:cNvCxnSpPr/>
          <p:nvPr/>
        </p:nvCxnSpPr>
        <p:spPr>
          <a:xfrm>
            <a:off x="-5911630" y="4639531"/>
            <a:ext cx="0" cy="350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9" name="Google Shape;879;p91">
            <a:extLst>
              <a:ext uri="{FF2B5EF4-FFF2-40B4-BE49-F238E27FC236}">
                <a16:creationId xmlns:a16="http://schemas.microsoft.com/office/drawing/2014/main" id="{09BFD0FF-EF97-423E-7ED3-074E5139A1E0}"/>
              </a:ext>
            </a:extLst>
          </p:cNvPr>
          <p:cNvSpPr txBox="1"/>
          <p:nvPr/>
        </p:nvSpPr>
        <p:spPr>
          <a:xfrm>
            <a:off x="131076" y="2327844"/>
            <a:ext cx="3978000" cy="186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just" defTabSz="914378"/>
            <a:r>
              <a:rPr sz="750"/>
              <a:t>Master’s Degree - Applied Mathematical Computer Science for Finance and Insurance - Polytech Nice Sophia, France (2023)</a:t>
            </a:r>
          </a:p>
          <a:p>
            <a:r>
              <a:rPr sz="750"/>
              <a:t>Engineering Degree - Computer Science, specializing in Financial IT - Esprit, Tunisia (2023)</a:t>
            </a:r>
          </a:p>
          <a:p>
            <a:r>
              <a:rPr sz="750"/>
              <a:t>Bachelor’s Degree - Applied Computer Science for Management - Higher School of Digital Economy, Tunisia (2020)</a:t>
            </a:r>
          </a:p>
        </p:txBody>
      </p:sp>
      <p:sp>
        <p:nvSpPr>
          <p:cNvPr id="881" name="Google Shape;881;p91">
            <a:extLst>
              <a:ext uri="{FF2B5EF4-FFF2-40B4-BE49-F238E27FC236}">
                <a16:creationId xmlns:a16="http://schemas.microsoft.com/office/drawing/2014/main" id="{7246D18B-D38D-D65C-14FD-C441A59F911E}"/>
              </a:ext>
            </a:extLst>
          </p:cNvPr>
          <p:cNvSpPr txBox="1"/>
          <p:nvPr/>
        </p:nvSpPr>
        <p:spPr>
          <a:xfrm>
            <a:off x="77051" y="1435442"/>
            <a:ext cx="4153168" cy="157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sz="800"/>
              <a:t>Digital Transformation  •  IT Governance  •  Enterprise Architecture  •  Business Process Modeling (BPMN)  •  PMO  •  Requirements Engineering  •  Agile Delivery  •  Stakeholder Management  •  Process Mining  •  Strategic Planning</a:t>
            </a:r>
          </a:p>
        </p:txBody>
      </p:sp>
      <p:sp>
        <p:nvSpPr>
          <p:cNvPr id="882" name="Google Shape;882;p91">
            <a:extLst>
              <a:ext uri="{FF2B5EF4-FFF2-40B4-BE49-F238E27FC236}">
                <a16:creationId xmlns:a16="http://schemas.microsoft.com/office/drawing/2014/main" id="{B0E0FB76-1CAC-5F96-CCA8-56998512189B}"/>
              </a:ext>
            </a:extLst>
          </p:cNvPr>
          <p:cNvSpPr txBox="1"/>
          <p:nvPr/>
        </p:nvSpPr>
        <p:spPr>
          <a:xfrm>
            <a:off x="4636180" y="1607667"/>
            <a:ext cx="3972821" cy="775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r>
              <a:rPr b="1" sz="800"/>
              <a:t>Ministry of Foreign Affairs, Migration and Tunisians Abroad (Tunisia) | Senior Business Analyst, Digital Transformation Consultant :</a:t>
            </a:r>
            <a:endParaRPr lang="fr-FR" sz="825" b="1" dirty="0"/>
          </a:p>
          <a:p>
            <a:pPr marL="128588" indent="-128588">
              <a:buFont typeface="Arial"/>
              <a:buChar char="•"/>
            </a:pPr>
            <a:r>
              <a:rPr sz="800"/>
              <a:t>Led business analysis and requirement gathering to align the platform with jj objectives.</a:t>
            </a:r>
          </a:p>
          <a:p>
            <a:pPr marL="128588" indent="-128588">
              <a:buFont typeface="Arial"/>
              <a:buChar char="•"/>
            </a:pPr>
            <a:r>
              <a:rPr sz="800"/>
              <a:t>Defined user journeys and operational processes to facilitate the jj digital transition.</a:t>
            </a:r>
          </a:p>
          <a:p>
            <a:pPr marL="128588" indent="-128588">
              <a:buFont typeface="Arial"/>
              <a:buChar char="•"/>
            </a:pPr>
            <a:r>
              <a:rPr sz="800"/>
              <a:t>Elaborated functional specifications and supported solution architecture design in adherence to jj standards.</a:t>
            </a:r>
          </a:p>
        </p:txBody>
      </p:sp>
      <p:sp>
        <p:nvSpPr>
          <p:cNvPr id="883" name="Google Shape;883;p91">
            <a:extLst>
              <a:ext uri="{FF2B5EF4-FFF2-40B4-BE49-F238E27FC236}">
                <a16:creationId xmlns:a16="http://schemas.microsoft.com/office/drawing/2014/main" id="{2FDA7F64-76DE-6428-007B-88330B99488D}"/>
              </a:ext>
            </a:extLst>
          </p:cNvPr>
          <p:cNvSpPr txBox="1"/>
          <p:nvPr/>
        </p:nvSpPr>
        <p:spPr>
          <a:xfrm>
            <a:off x="134011" y="1188802"/>
            <a:ext cx="3851466" cy="2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Compétences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                                                                                                                             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5" name="Google Shape;885;p91">
            <a:extLst>
              <a:ext uri="{FF2B5EF4-FFF2-40B4-BE49-F238E27FC236}">
                <a16:creationId xmlns:a16="http://schemas.microsoft.com/office/drawing/2014/main" id="{6D45ECEE-73FB-7E87-2AC2-B5229EF62197}"/>
              </a:ext>
            </a:extLst>
          </p:cNvPr>
          <p:cNvSpPr txBox="1"/>
          <p:nvPr/>
        </p:nvSpPr>
        <p:spPr>
          <a:xfrm>
            <a:off x="134011" y="2570363"/>
            <a:ext cx="4200771" cy="22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Réalisations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&amp;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Références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7" name="Google Shape;887;p91">
            <a:extLst>
              <a:ext uri="{FF2B5EF4-FFF2-40B4-BE49-F238E27FC236}">
                <a16:creationId xmlns:a16="http://schemas.microsoft.com/office/drawing/2014/main" id="{F05C4E19-F979-09C7-8840-72F2C08EB011}"/>
              </a:ext>
            </a:extLst>
          </p:cNvPr>
          <p:cNvSpPr txBox="1"/>
          <p:nvPr/>
        </p:nvSpPr>
        <p:spPr>
          <a:xfrm>
            <a:off x="110444" y="2812058"/>
            <a:ext cx="4200769" cy="191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63499" algn="just" defTabSz="914378">
              <a:buSzPts val="600"/>
            </a:pPr>
          </a:p>
        </p:txBody>
      </p:sp>
    </p:spTree>
    <p:extLst>
      <p:ext uri="{BB962C8B-B14F-4D97-AF65-F5344CB8AC3E}">
        <p14:creationId xmlns:p14="http://schemas.microsoft.com/office/powerpoint/2010/main" val="3055599618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87;p91">
            <a:extLst>
              <a:ext uri="{FF2B5EF4-FFF2-40B4-BE49-F238E27FC236}">
                <a16:creationId xmlns:a16="http://schemas.microsoft.com/office/drawing/2014/main" id="{75E7FD45-5803-00D2-219B-FF2A18F0FF14}"/>
              </a:ext>
            </a:extLst>
          </p:cNvPr>
          <p:cNvSpPr txBox="1"/>
          <p:nvPr/>
        </p:nvSpPr>
        <p:spPr>
          <a:xfrm>
            <a:off x="238561" y="1946438"/>
            <a:ext cx="3936530" cy="191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63499" algn="just" defTabSz="914378">
              <a:buSzPts val="600"/>
            </a:p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56CE3F-5B02-8F7E-C625-6F3B45A47E98}"/>
              </a:ext>
            </a:extLst>
          </p:cNvPr>
          <p:cNvSpPr txBox="1"/>
          <p:nvPr/>
        </p:nvSpPr>
        <p:spPr>
          <a:xfrm>
            <a:off x="4386106" y="1946438"/>
            <a:ext cx="457262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499" algn="just" defTabSz="914378">
              <a:buSzPts val="600"/>
            </a:pPr>
          </a:p>
        </p:txBody>
      </p:sp>
      <p:sp>
        <p:nvSpPr>
          <p:cNvPr id="10" name="Google Shape;868;p91">
            <a:extLst>
              <a:ext uri="{FF2B5EF4-FFF2-40B4-BE49-F238E27FC236}">
                <a16:creationId xmlns:a16="http://schemas.microsoft.com/office/drawing/2014/main" id="{5EE19B54-28D4-913F-4DE6-32AFED007C46}"/>
              </a:ext>
            </a:extLst>
          </p:cNvPr>
          <p:cNvSpPr/>
          <p:nvPr/>
        </p:nvSpPr>
        <p:spPr>
          <a:xfrm>
            <a:off x="0" y="0"/>
            <a:ext cx="9144000" cy="105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869;p91">
            <a:extLst>
              <a:ext uri="{FF2B5EF4-FFF2-40B4-BE49-F238E27FC236}">
                <a16:creationId xmlns:a16="http://schemas.microsoft.com/office/drawing/2014/main" id="{1D2C9E3B-6CFA-9A6C-2438-DCFDAEFBACD8}"/>
              </a:ext>
            </a:extLst>
          </p:cNvPr>
          <p:cNvSpPr txBox="1">
            <a:spLocks/>
          </p:cNvSpPr>
          <p:nvPr/>
        </p:nvSpPr>
        <p:spPr>
          <a:xfrm>
            <a:off x="1613874" y="154850"/>
            <a:ext cx="200353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buClr>
                <a:schemeClr val="dk2"/>
              </a:buClr>
              <a:buSzPts val="1200"/>
              <a:buFont typeface="Montserrat"/>
              <a:buNone/>
            </a:pPr>
            <a:r>
              <a:rPr lang="en-GB" sz="1200" b="1">
                <a:solidFill>
                  <a:schemeClr val="lt2"/>
                </a:solidFill>
              </a:rPr>
              <a:t>Khadija Azzouz</a:t>
            </a:r>
            <a:endParaRPr lang="en-GB" sz="1200" b="1" dirty="0">
              <a:solidFill>
                <a:schemeClr val="lt2"/>
              </a:solidFill>
            </a:endParaRPr>
          </a:p>
        </p:txBody>
      </p:sp>
      <p:sp>
        <p:nvSpPr>
          <p:cNvPr id="15" name="Google Shape;877;p91">
            <a:extLst>
              <a:ext uri="{FF2B5EF4-FFF2-40B4-BE49-F238E27FC236}">
                <a16:creationId xmlns:a16="http://schemas.microsoft.com/office/drawing/2014/main" id="{46B8542A-36C5-3E7D-9D43-8569E6C1B522}"/>
              </a:ext>
            </a:extLst>
          </p:cNvPr>
          <p:cNvSpPr txBox="1">
            <a:spLocks/>
          </p:cNvSpPr>
          <p:nvPr/>
        </p:nvSpPr>
        <p:spPr>
          <a:xfrm>
            <a:off x="1613875" y="444175"/>
            <a:ext cx="17478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spcAft>
                <a:spcPts val="120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rPr lang="en-GB" sz="900" b="1">
                <a:solidFill>
                  <a:schemeClr val="dk1"/>
                </a:solidFill>
              </a:rPr>
              <a:t>Senior Business Analyst, Digital Transformation Consultant</a:t>
            </a:r>
            <a:endParaRPr lang="en-GB" sz="900" b="1" dirty="0">
              <a:solidFill>
                <a:schemeClr val="dk1"/>
              </a:solidFill>
            </a:endParaRPr>
          </a:p>
        </p:txBody>
      </p:sp>
      <p:sp>
        <p:nvSpPr>
          <p:cNvPr id="26" name="Google Shape;885;p91">
            <a:extLst>
              <a:ext uri="{FF2B5EF4-FFF2-40B4-BE49-F238E27FC236}">
                <a16:creationId xmlns:a16="http://schemas.microsoft.com/office/drawing/2014/main" id="{339EE12A-2666-5232-B00C-CC23BD4243E8}"/>
              </a:ext>
            </a:extLst>
          </p:cNvPr>
          <p:cNvSpPr txBox="1"/>
          <p:nvPr/>
        </p:nvSpPr>
        <p:spPr>
          <a:xfrm>
            <a:off x="134011" y="1649191"/>
            <a:ext cx="4200771" cy="22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Réalisations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&amp;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Références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04878210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3C3C3A"/>
      </a:dk1>
      <a:lt1>
        <a:srgbClr val="FFFFFF"/>
      </a:lt1>
      <a:dk2>
        <a:srgbClr val="3C3C3A"/>
      </a:dk2>
      <a:lt2>
        <a:srgbClr val="F8485E"/>
      </a:lt2>
      <a:accent1>
        <a:srgbClr val="F8485E"/>
      </a:accent1>
      <a:accent2>
        <a:srgbClr val="FCA2AE"/>
      </a:accent2>
      <a:accent3>
        <a:srgbClr val="FDDADE"/>
      </a:accent3>
      <a:accent4>
        <a:srgbClr val="D7EBE7"/>
      </a:accent4>
      <a:accent5>
        <a:srgbClr val="EFEADC"/>
      </a:accent5>
      <a:accent6>
        <a:srgbClr val="EFEEEE"/>
      </a:accent6>
      <a:hlink>
        <a:srgbClr val="F84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</TotalTime>
  <Words>744</Words>
  <Application>Microsoft Office PowerPoint</Application>
  <PresentationFormat>Affichage à l'écran (16:9)</PresentationFormat>
  <Paragraphs>68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</vt:i4>
      </vt:variant>
    </vt:vector>
  </HeadingPairs>
  <TitlesOfParts>
    <vt:vector size="11" baseType="lpstr">
      <vt:lpstr>Montserrat</vt:lpstr>
      <vt:lpstr>Montserrat SemiBold</vt:lpstr>
      <vt:lpstr>Verdana</vt:lpstr>
      <vt:lpstr>Arial</vt:lpstr>
      <vt:lpstr>Montserrat Medium</vt:lpstr>
      <vt:lpstr>Century Gothic</vt:lpstr>
      <vt:lpstr>Montserrat Light</vt:lpstr>
      <vt:lpstr>Simple Light</vt:lpstr>
      <vt:lpstr>Simple Light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Mohamed BEN AYED</dc:creator>
  <cp:lastModifiedBy>mehdi kallala</cp:lastModifiedBy>
  <cp:revision>128</cp:revision>
  <dcterms:modified xsi:type="dcterms:W3CDTF">2026-08-17T08:16:30Z</dcterms:modified>
</cp:coreProperties>
</file>